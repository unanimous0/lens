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4" r:id="rId2"/>
    <p:sldId id="257" r:id="rId3"/>
    <p:sldId id="258" r:id="rId4"/>
    <p:sldId id="265" r:id="rId5"/>
    <p:sldId id="263" r:id="rId6"/>
    <p:sldId id="259" r:id="rId7"/>
    <p:sldId id="260" r:id="rId8"/>
    <p:sldId id="261" r:id="rId9"/>
    <p:sldId id="266" r:id="rId10"/>
    <p:sldId id="262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10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54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사용자 업로드 문서: 정리.pdf, p.1-7 (핵심 논점 및 내부 문제의식 요약).
본 슬라이드는 사용자 제공 내용과 대화에서 정리된 제안 프레임을 요약한 내부용 초안입니다.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30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6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33"/>
          </a:solidFill>
          <a:ln w="12700">
            <a:solidFill>
              <a:srgbClr val="061A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FA6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ETF LP 운영방식 전환 제안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155680" y="6510528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E8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검토안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0" cy="5440680"/>
          </a:xfrm>
          <a:prstGeom prst="line">
            <a:avLst/>
          </a:prstGeom>
          <a:noFill/>
          <a:ln w="15240">
            <a:solidFill>
              <a:srgbClr val="2FD3C7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2996" y="818843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ETF LP 운영방식 전환 제안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80137" y="1783080"/>
            <a:ext cx="7132320" cy="855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“괴리 발견 시 즉시 </a:t>
            </a:r>
            <a:r>
              <a:rPr lang="en-US" sz="1500" dirty="0" err="1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정리”에서</a:t>
            </a:r>
            <a:endParaRPr lang="en-US" sz="1500" dirty="0">
              <a:solidFill>
                <a:srgbClr val="B6C3D8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“북 전체 리스크를 관리하며 기회를 축적”으로</a:t>
            </a:r>
            <a:endParaRPr lang="en-US" sz="1500" dirty="0"/>
          </a:p>
        </p:txBody>
      </p:sp>
      <p:sp>
        <p:nvSpPr>
          <p:cNvPr id="4" name="Shape 21">
            <a:extLst>
              <a:ext uri="{FF2B5EF4-FFF2-40B4-BE49-F238E27FC236}">
                <a16:creationId xmlns:a16="http://schemas.microsoft.com/office/drawing/2014/main" id="{539E30A9-0A63-B5FC-B11C-B25F70E3519A}"/>
              </a:ext>
            </a:extLst>
          </p:cNvPr>
          <p:cNvSpPr/>
          <p:nvPr/>
        </p:nvSpPr>
        <p:spPr>
          <a:xfrm>
            <a:off x="1293907" y="2834638"/>
            <a:ext cx="9604185" cy="3474721"/>
          </a:xfrm>
          <a:prstGeom prst="roundRect">
            <a:avLst>
              <a:gd name="adj" fmla="val 4528"/>
            </a:avLst>
          </a:prstGeom>
          <a:solidFill>
            <a:srgbClr val="0E2A4A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760532" y="3154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2077" y="3624516"/>
            <a:ext cx="4171198" cy="1894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방식은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손실을 피하는 데는 유리하지만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LP 사업의 경제성을 거의 </a:t>
            </a:r>
            <a:r>
              <a:rPr lang="en-US" sz="2000" b="1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쓰지</a:t>
            </a:r>
            <a:r>
              <a:rPr lang="en-US" sz="2000" b="1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</a:t>
            </a:r>
            <a:r>
              <a:rPr lang="ko-KR" altLang="en-US" sz="2000" b="1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 flipH="1" flipV="1">
            <a:off x="6158853" y="3095896"/>
            <a:ext cx="3408" cy="2952206"/>
          </a:xfrm>
          <a:prstGeom prst="line">
            <a:avLst/>
          </a:prstGeom>
          <a:noFill/>
          <a:ln w="12700">
            <a:solidFill>
              <a:srgbClr val="2633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69602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결론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59712" y="3673644"/>
            <a:ext cx="4064364" cy="217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ETF</a:t>
            </a:r>
            <a:r>
              <a:rPr lang="ko-KR" altLang="en-US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lang="en-US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</a:t>
            </a:r>
            <a:r>
              <a:rPr lang="en-US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</a:t>
            </a:r>
            <a:r>
              <a:rPr lang="ko-KR" altLang="en-US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r>
              <a:rPr lang="ko-KR" altLang="en-US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끝내는 것이 </a:t>
            </a:r>
            <a:r>
              <a:rPr lang="en-US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아니라</a:t>
            </a:r>
            <a:r>
              <a:rPr lang="en-US" altLang="ko-KR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데스크</a:t>
            </a:r>
            <a:r>
              <a:rPr lang="en-US" altLang="ko-KR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</a:t>
            </a:r>
            <a:r>
              <a:rPr lang="en-US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r>
              <a:rPr lang="en-US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관점에서 </a:t>
            </a:r>
            <a:r>
              <a:rPr lang="en-US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관리해야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lnSpc>
                <a:spcPct val="200000"/>
              </a:lnSpc>
              <a:buNone/>
            </a:pPr>
            <a:r>
              <a:rPr lang="en-US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</a:t>
            </a:r>
            <a:r>
              <a:rPr lang="ko-KR" altLang="en-US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차익 </a:t>
            </a:r>
            <a:r>
              <a:rPr lang="en-US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대차</a:t>
            </a:r>
            <a:r>
              <a:rPr lang="en-US" altLang="ko-KR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ko-KR" altLang="en-US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</a:t>
            </a:r>
            <a:r>
              <a:rPr lang="en-US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</a:t>
            </a:r>
            <a:r>
              <a:rPr lang="en-US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r>
              <a:rPr lang="ko-KR" altLang="en-US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됨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방식은 리스크 관리보다 리스크 </a:t>
            </a:r>
            <a:r>
              <a:rPr lang="en-US" sz="24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회피에</a:t>
            </a:r>
            <a:r>
              <a:rPr lang="en-US" sz="24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4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ko-KR" altLang="en-US" sz="24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까운</a:t>
            </a:r>
            <a:r>
              <a:rPr lang="ko-KR" altLang="en-US" sz="24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방식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방식은 기회를 쌓지 못하고, 눈에 보이는 </a:t>
            </a:r>
            <a:r>
              <a:rPr lang="en-US" sz="1050" dirty="0" err="1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괴리만</a:t>
            </a:r>
            <a:r>
              <a:rPr lang="en-US" sz="105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</a:t>
            </a:r>
            <a:r>
              <a:rPr lang="ko-KR" altLang="en-US" sz="1050" dirty="0" err="1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리고</a:t>
            </a:r>
            <a:r>
              <a:rPr lang="ko-KR" altLang="en-US" sz="105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있음</a:t>
            </a:r>
            <a:r>
              <a:rPr lang="en-US" sz="105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965960" cy="822960"/>
          </a:xfrm>
          <a:prstGeom prst="roundRect">
            <a:avLst>
              <a:gd name="adj" fmla="val 13333"/>
            </a:avLst>
          </a:prstGeom>
          <a:solidFill>
            <a:srgbClr val="0D2745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59536" y="1737360"/>
            <a:ext cx="256032" cy="256032"/>
          </a:xfrm>
          <a:prstGeom prst="ellipse">
            <a:avLst/>
          </a:prstGeom>
          <a:solidFill>
            <a:srgbClr val="2FD3C7"/>
          </a:solidFill>
          <a:ln w="12700">
            <a:solidFill>
              <a:srgbClr val="2FD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59536" y="174193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70432" y="1783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괴리·베이시스 발생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06624" y="183794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D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898648" y="1600200"/>
            <a:ext cx="1965960" cy="822960"/>
          </a:xfrm>
          <a:prstGeom prst="roundRect">
            <a:avLst>
              <a:gd name="adj" fmla="val 13333"/>
            </a:avLst>
          </a:prstGeom>
          <a:solidFill>
            <a:srgbClr val="0D2745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026664" y="1737360"/>
            <a:ext cx="256032" cy="256032"/>
          </a:xfrm>
          <a:prstGeom prst="ellipse">
            <a:avLst/>
          </a:prstGeom>
          <a:solidFill>
            <a:srgbClr val="2FD3C7"/>
          </a:solidFill>
          <a:ln w="12700">
            <a:solidFill>
              <a:srgbClr val="2FD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026664" y="174193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37560" y="1783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ETF·바스켓</a:t>
            </a:r>
            <a:r>
              <a:rPr 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6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</a:t>
            </a:r>
            <a:r>
              <a:rPr 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헤지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73752" y="183794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D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065776" y="1600200"/>
            <a:ext cx="1965960" cy="822960"/>
          </a:xfrm>
          <a:prstGeom prst="roundRect">
            <a:avLst>
              <a:gd name="adj" fmla="val 13333"/>
            </a:avLst>
          </a:prstGeom>
          <a:solidFill>
            <a:srgbClr val="0D2745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193792" y="1737360"/>
            <a:ext cx="256032" cy="256032"/>
          </a:xfrm>
          <a:prstGeom prst="ellipse">
            <a:avLst/>
          </a:prstGeom>
          <a:solidFill>
            <a:srgbClr val="2FD3C7"/>
          </a:solidFill>
          <a:ln w="12700">
            <a:solidFill>
              <a:srgbClr val="2FD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193792" y="174193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04688" y="1783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설정·환매 실행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183794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D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232904" y="1600200"/>
            <a:ext cx="1965960" cy="822960"/>
          </a:xfrm>
          <a:prstGeom prst="roundRect">
            <a:avLst>
              <a:gd name="adj" fmla="val 13333"/>
            </a:avLst>
          </a:prstGeom>
          <a:solidFill>
            <a:srgbClr val="17304E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360920" y="1737360"/>
            <a:ext cx="256032" cy="256032"/>
          </a:xfrm>
          <a:prstGeom prst="ellipse">
            <a:avLst/>
          </a:prstGeom>
          <a:solidFill>
            <a:srgbClr val="2FD3C7"/>
          </a:solidFill>
          <a:ln w="12700">
            <a:solidFill>
              <a:srgbClr val="2FD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360920" y="174193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71816" y="1783080"/>
            <a:ext cx="149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장마감 전 0정리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520" y="2743199"/>
            <a:ext cx="4983480" cy="3140765"/>
          </a:xfrm>
          <a:prstGeom prst="roundRect">
            <a:avLst>
              <a:gd name="adj" fmla="val 4528"/>
            </a:avLst>
          </a:prstGeom>
          <a:solidFill>
            <a:srgbClr val="0E2A4A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60120" y="2926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7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문제인가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0120" y="3246120"/>
            <a:ext cx="4544568" cy="22857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FF7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체결</a:t>
            </a:r>
            <a:r>
              <a:rPr lang="en-US" altLang="ko-KR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</a:t>
            </a:r>
            <a:r>
              <a:rPr lang="en-US" altLang="ko-KR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곧바로</a:t>
            </a:r>
            <a:r>
              <a:rPr lang="en-US" altLang="ko-KR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원상복구</a:t>
            </a:r>
            <a:r>
              <a:rPr lang="en-US" altLang="ko-KR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</a:t>
            </a:r>
            <a:r>
              <a:rPr lang="en-US" altLang="ko-KR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r>
              <a:rPr lang="en-US" altLang="ko-KR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넷팅</a:t>
            </a:r>
            <a:r>
              <a:rPr lang="en-US" altLang="ko-KR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기회</a:t>
            </a:r>
            <a:r>
              <a:rPr lang="en-US" altLang="ko-KR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상실</a:t>
            </a:r>
            <a:endParaRPr lang="en-US" altLang="ko-KR" sz="1600" dirty="0"/>
          </a:p>
          <a:p>
            <a:pPr marL="0" indent="0">
              <a:buNone/>
            </a:pPr>
            <a:r>
              <a:rPr lang="en-US" sz="165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r>
              <a:rPr lang="en-US" sz="1650" b="1" dirty="0">
                <a:solidFill>
                  <a:srgbClr val="FF7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괴리</a:t>
            </a:r>
            <a:r>
              <a:rPr lang="en-US" altLang="ko-KR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</a:t>
            </a:r>
            <a:r>
              <a:rPr lang="en-US" altLang="ko-KR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외에</a:t>
            </a:r>
            <a:r>
              <a:rPr lang="en-US" altLang="ko-KR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베이시스</a:t>
            </a:r>
            <a:r>
              <a:rPr lang="ko-KR" altLang="en-US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캐리 </a:t>
            </a:r>
            <a:r>
              <a:rPr lang="en-US" altLang="ko-KR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대차</a:t>
            </a:r>
            <a:r>
              <a:rPr lang="en-US" altLang="ko-KR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r>
              <a:rPr lang="en-US" altLang="ko-KR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수익이</a:t>
            </a:r>
            <a:r>
              <a:rPr lang="en-US" altLang="ko-KR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거의</a:t>
            </a:r>
            <a:r>
              <a:rPr lang="en-US" altLang="ko-KR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남지</a:t>
            </a:r>
            <a:r>
              <a:rPr lang="en-US" altLang="ko-KR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않음</a:t>
            </a:r>
            <a:endParaRPr lang="en-US" altLang="ko-KR" sz="1600" dirty="0"/>
          </a:p>
          <a:p>
            <a:r>
              <a:rPr lang="en-US" sz="165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r>
              <a:rPr lang="en-US" sz="1650" b="1" dirty="0">
                <a:solidFill>
                  <a:srgbClr val="FF7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호가를</a:t>
            </a:r>
            <a:r>
              <a:rPr lang="en-US" altLang="ko-KR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공격적으로</a:t>
            </a:r>
            <a:r>
              <a:rPr lang="en-US" altLang="ko-KR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낼</a:t>
            </a:r>
            <a:r>
              <a:rPr lang="en-US" altLang="ko-KR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</a:t>
            </a:r>
            <a:r>
              <a:rPr lang="en-US" altLang="ko-KR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없어지고</a:t>
            </a:r>
            <a:r>
              <a:rPr lang="en-US" altLang="ko-KR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거래량이</a:t>
            </a:r>
            <a:r>
              <a:rPr lang="en-US" altLang="ko-KR" sz="1600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줄어듦</a:t>
            </a:r>
            <a:endParaRPr lang="en-US" altLang="ko-KR" sz="1600" dirty="0"/>
          </a:p>
          <a:p>
            <a:pPr marL="0" indent="0">
              <a:buNone/>
            </a:pP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5943600" y="2743200"/>
            <a:ext cx="5440680" cy="3140764"/>
          </a:xfrm>
          <a:prstGeom prst="roundRect">
            <a:avLst>
              <a:gd name="adj" fmla="val 4528"/>
            </a:avLst>
          </a:prstGeom>
          <a:solidFill>
            <a:srgbClr val="102E50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217920" y="29260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C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진단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0" y="3310128"/>
            <a:ext cx="4572000" cy="100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LP가 아니라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“체결되면 빨리 없애는 재고 </a:t>
            </a:r>
            <a:r>
              <a:rPr lang="en-US" sz="20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정리”에</a:t>
            </a:r>
            <a:r>
              <a:rPr lang="en-US" sz="20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20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</a:t>
            </a:r>
            <a:r>
              <a:rPr lang="en-US" sz="20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ko-KR" altLang="en-US" sz="20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까운</a:t>
            </a:r>
            <a:r>
              <a:rPr lang="ko-KR" altLang="en-US" sz="20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방식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355080" y="4667416"/>
            <a:ext cx="4297680" cy="81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손실을 안 내는 것이 아니라,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위험 </a:t>
            </a:r>
            <a:r>
              <a:rPr lang="en-US" sz="1450" dirty="0" err="1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안에서</a:t>
            </a:r>
            <a:r>
              <a:rPr lang="en-US" sz="145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50" dirty="0" err="1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</a:t>
            </a:r>
            <a:r>
              <a:rPr lang="en-US" sz="145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많이 거래하고 더 많이 남기는 구조를 </a:t>
            </a:r>
            <a:r>
              <a:rPr lang="en-US" sz="1450" dirty="0" err="1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</a:t>
            </a:r>
            <a:r>
              <a:rPr lang="en-US" sz="145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 본질은 기회 부족이 아니라 </a:t>
            </a:r>
            <a:r>
              <a:rPr lang="en-US" sz="24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r>
              <a:rPr lang="en-US" sz="24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4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호가를 내야 하는지, 체결이 유리한지, 북에 어떤 위험이 남는지 보이지 않으면 결국 보수적으로 </a:t>
            </a:r>
            <a:r>
              <a:rPr lang="en-US" sz="1050" dirty="0" err="1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될</a:t>
            </a:r>
            <a:r>
              <a:rPr lang="en-US" sz="105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수밖에</a:t>
            </a:r>
            <a:r>
              <a:rPr lang="en-US" sz="105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</a:t>
            </a:r>
            <a:r>
              <a:rPr lang="ko-KR" altLang="en-US" sz="105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9808" y="1572768"/>
            <a:ext cx="2542032" cy="1874520"/>
          </a:xfrm>
          <a:prstGeom prst="roundRect">
            <a:avLst>
              <a:gd name="adj" fmla="val 5854"/>
            </a:avLst>
          </a:prstGeom>
          <a:solidFill>
            <a:srgbClr val="0E2A4A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50976" y="17830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C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 수 없는 것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50976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호가가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가격인지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27889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체결 전 기대 이익 판단이 안 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84448" y="1572768"/>
            <a:ext cx="2542032" cy="1874520"/>
          </a:xfrm>
          <a:prstGeom prst="roundRect">
            <a:avLst>
              <a:gd name="adj" fmla="val 5854"/>
            </a:avLst>
          </a:prstGeom>
          <a:solidFill>
            <a:srgbClr val="102E50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785616" y="17830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C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 수 없는 것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85616" y="213512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체결 뒤 북 전체가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</a:t>
            </a:r>
            <a:r>
              <a:rPr lang="ko-KR" altLang="en-US" sz="18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</a:t>
            </a:r>
            <a:r>
              <a:rPr lang="ko-KR" altLang="en-US" sz="18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팩터</a:t>
            </a:r>
            <a:r>
              <a:rPr lang="en-US" sz="18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r>
              <a:rPr lang="en-US" sz="18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노출되는지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44468" y="28803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종목별로만 보고 전체를 못 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19088" y="1572768"/>
            <a:ext cx="2542032" cy="1874520"/>
          </a:xfrm>
          <a:prstGeom prst="roundRect">
            <a:avLst>
              <a:gd name="adj" fmla="val 5854"/>
            </a:avLst>
          </a:prstGeom>
          <a:solidFill>
            <a:srgbClr val="0E2A4A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620256" y="17830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C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 수 없는 것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73059" y="2057400"/>
            <a:ext cx="223408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헤지 비용을 감안해도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 이익이 있는지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01968" y="27889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싸게 정리할 수단을 비교 못 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53728" y="1572768"/>
            <a:ext cx="2542032" cy="1874520"/>
          </a:xfrm>
          <a:prstGeom prst="roundRect">
            <a:avLst>
              <a:gd name="adj" fmla="val 5854"/>
            </a:avLst>
          </a:prstGeom>
          <a:solidFill>
            <a:srgbClr val="102E50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454896" y="17830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C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 수 없는 것 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454896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손익이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났는지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45168" y="2788920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스프레드·재고·헤지비용 구분이 안 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" y="3794760"/>
            <a:ext cx="3703320" cy="2167128"/>
          </a:xfrm>
          <a:prstGeom prst="roundRect">
            <a:avLst>
              <a:gd name="adj" fmla="val 7273"/>
            </a:avLst>
          </a:prstGeom>
          <a:solidFill>
            <a:srgbClr val="123558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87552" y="40050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7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87552" y="4315968"/>
            <a:ext cx="310896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7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55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바스켓 헤지가 되는 </a:t>
            </a:r>
            <a:r>
              <a:rPr lang="en-US" sz="1550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곳에만</a:t>
            </a:r>
            <a:r>
              <a:rPr lang="en-US" sz="155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50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호가</a:t>
            </a:r>
            <a:endParaRPr lang="en-US" sz="1550" dirty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55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r>
              <a:rPr lang="en-US" sz="1550" b="1" dirty="0">
                <a:solidFill>
                  <a:srgbClr val="FF7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55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체결돼도 역선택 여부 </a:t>
            </a:r>
            <a:r>
              <a:rPr lang="en-US" sz="1550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r>
              <a:rPr lang="en-US" sz="155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50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</a:t>
            </a:r>
            <a:endParaRPr lang="en-US" sz="1550" dirty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55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r>
              <a:rPr lang="en-US" sz="1550" b="1" dirty="0">
                <a:solidFill>
                  <a:srgbClr val="FF7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55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눈에 보이는 괴리만 대기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4681728" y="3794760"/>
            <a:ext cx="6583680" cy="2167128"/>
          </a:xfrm>
          <a:prstGeom prst="roundRect">
            <a:avLst>
              <a:gd name="adj" fmla="val 7273"/>
            </a:avLst>
          </a:prstGeom>
          <a:solidFill>
            <a:srgbClr val="13375A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956048" y="40050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D1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것은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18888" y="4397412"/>
            <a:ext cx="2286000" cy="1080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가격창보다 </a:t>
            </a:r>
            <a:r>
              <a:rPr lang="en-US" sz="20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</a:t>
            </a:r>
            <a:r>
              <a:rPr lang="en-US" sz="20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20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보여야</a:t>
            </a:r>
            <a:r>
              <a:rPr lang="en-US" sz="20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할 것은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 </a:t>
            </a:r>
            <a:r>
              <a:rPr lang="en-US" sz="20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r>
              <a:rPr lang="en-US" sz="20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0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관리창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33487" y="4397411"/>
            <a:ext cx="3696107" cy="131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50" dirty="0">
              <a:solidFill>
                <a:srgbClr val="B5C6DA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en-US" altLang="ko-KR" sz="1400" dirty="0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Fair value / Net Delta / Beta-adjusted Delta / Residual Risk / </a:t>
            </a:r>
            <a:r>
              <a:rPr lang="en-US" altLang="ko-KR" sz="1400" dirty="0" err="1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거래량</a:t>
            </a:r>
            <a:r>
              <a:rPr lang="en-US" altLang="ko-KR" sz="1400" dirty="0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</a:t>
            </a:r>
            <a:r>
              <a:rPr lang="en-US" altLang="ko-KR" sz="1400" dirty="0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가격변동</a:t>
            </a:r>
            <a:r>
              <a:rPr lang="en-US" altLang="ko-KR" sz="1400" dirty="0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</a:t>
            </a:r>
            <a:r>
              <a:rPr lang="en-US" altLang="ko-KR" sz="1400" dirty="0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지표가</a:t>
            </a:r>
            <a:r>
              <a:rPr lang="en-US" altLang="ko-KR" sz="1400" dirty="0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있어야</a:t>
            </a:r>
            <a:r>
              <a:rPr lang="en-US" altLang="ko-KR" sz="1400" dirty="0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endParaRPr lang="en-US" altLang="ko-KR" sz="1400" dirty="0">
              <a:solidFill>
                <a:srgbClr val="B6C3D8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400" dirty="0" err="1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호가</a:t>
            </a:r>
            <a:r>
              <a:rPr lang="en-US" altLang="ko-KR" sz="1400" dirty="0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400" dirty="0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헤지</a:t>
            </a:r>
            <a:r>
              <a:rPr lang="en-US" altLang="ko-KR" sz="1400" dirty="0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400" dirty="0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포지션 </a:t>
            </a:r>
            <a:r>
              <a:rPr lang="en-US" altLang="ko-KR" sz="1400" dirty="0" err="1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보유를</a:t>
            </a:r>
            <a:r>
              <a:rPr lang="en-US" altLang="ko-KR" sz="1400" dirty="0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</a:t>
            </a:r>
            <a:r>
              <a:rPr lang="en-US" altLang="ko-KR" sz="1400" dirty="0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언어로</a:t>
            </a:r>
            <a:r>
              <a:rPr lang="en-US" altLang="ko-KR" sz="1400" dirty="0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판단할</a:t>
            </a:r>
            <a:r>
              <a:rPr lang="en-US" altLang="ko-KR" sz="1400" dirty="0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</a:t>
            </a:r>
            <a:r>
              <a:rPr lang="en-US" altLang="ko-KR" sz="1400" dirty="0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</a:t>
            </a:r>
            <a:r>
              <a:rPr lang="ko-KR" altLang="en-US" sz="1400" dirty="0">
                <a:solidFill>
                  <a:srgbClr val="B6C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</a:t>
            </a:r>
            <a:endParaRPr lang="en-US" altLang="ko-KR" sz="1400" dirty="0"/>
          </a:p>
          <a:p>
            <a:pPr marL="0" indent="0" algn="l"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6547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 err="1">
                <a:solidFill>
                  <a:srgbClr val="F2F6FB"/>
                </a:solidFill>
                <a:latin typeface="Malgun Gothic"/>
              </a:rPr>
              <a:t>ETF를</a:t>
            </a:r>
            <a:r>
              <a:rPr sz="240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2400" b="1" dirty="0" err="1">
                <a:solidFill>
                  <a:srgbClr val="F2F6FB"/>
                </a:solidFill>
                <a:latin typeface="Malgun Gothic"/>
              </a:rPr>
              <a:t>한</a:t>
            </a:r>
            <a:r>
              <a:rPr sz="240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2400" b="1" dirty="0" err="1">
                <a:solidFill>
                  <a:srgbClr val="F2F6FB"/>
                </a:solidFill>
                <a:latin typeface="Malgun Gothic"/>
              </a:rPr>
              <a:t>종목씩</a:t>
            </a:r>
            <a:r>
              <a:rPr sz="240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lang="ko-KR" altLang="en-US" sz="2400" b="1" dirty="0">
                <a:solidFill>
                  <a:srgbClr val="F2F6FB"/>
                </a:solidFill>
                <a:latin typeface="Malgun Gothic"/>
              </a:rPr>
              <a:t>인식하면 안됨</a:t>
            </a:r>
            <a:endParaRPr sz="2400" b="1" dirty="0">
              <a:solidFill>
                <a:srgbClr val="F2F6FB"/>
              </a:solidFill>
              <a:latin typeface="Malgun Gothi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424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dirty="0" err="1">
                <a:solidFill>
                  <a:srgbClr val="B5C6DA"/>
                </a:solidFill>
                <a:latin typeface="Malgun Gothic"/>
              </a:rPr>
              <a:t>여러</a:t>
            </a:r>
            <a:r>
              <a:rPr sz="1050" b="0" dirty="0">
                <a:solidFill>
                  <a:srgbClr val="B5C6DA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B5C6DA"/>
                </a:solidFill>
                <a:latin typeface="Malgun Gothic"/>
              </a:rPr>
              <a:t>ETF와</a:t>
            </a:r>
            <a:r>
              <a:rPr sz="1050" b="0" dirty="0">
                <a:solidFill>
                  <a:srgbClr val="B5C6DA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B5C6DA"/>
                </a:solidFill>
                <a:latin typeface="Malgun Gothic"/>
              </a:rPr>
              <a:t>헤지</a:t>
            </a:r>
            <a:r>
              <a:rPr sz="1050" b="0" dirty="0">
                <a:solidFill>
                  <a:srgbClr val="B5C6DA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B5C6DA"/>
                </a:solidFill>
                <a:latin typeface="Malgun Gothic"/>
              </a:rPr>
              <a:t>수단을</a:t>
            </a:r>
            <a:r>
              <a:rPr sz="1050" b="0" dirty="0">
                <a:solidFill>
                  <a:srgbClr val="B5C6DA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B5C6DA"/>
                </a:solidFill>
                <a:latin typeface="Malgun Gothic"/>
              </a:rPr>
              <a:t>하나의</a:t>
            </a:r>
            <a:r>
              <a:rPr sz="1050" b="0" dirty="0">
                <a:solidFill>
                  <a:srgbClr val="B5C6DA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B5C6DA"/>
                </a:solidFill>
                <a:latin typeface="Malgun Gothic"/>
              </a:rPr>
              <a:t>북으로</a:t>
            </a:r>
            <a:r>
              <a:rPr sz="1050" b="0" dirty="0">
                <a:solidFill>
                  <a:srgbClr val="B5C6DA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B5C6DA"/>
                </a:solidFill>
                <a:latin typeface="Malgun Gothic"/>
              </a:rPr>
              <a:t>묶어</a:t>
            </a:r>
            <a:r>
              <a:rPr sz="1050" b="0" dirty="0">
                <a:solidFill>
                  <a:srgbClr val="B5C6DA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B5C6DA"/>
                </a:solidFill>
                <a:latin typeface="Malgun Gothic"/>
              </a:rPr>
              <a:t>보고</a:t>
            </a:r>
            <a:r>
              <a:rPr sz="1050" b="0" dirty="0">
                <a:solidFill>
                  <a:srgbClr val="B5C6DA"/>
                </a:solidFill>
                <a:latin typeface="Malgun Gothic"/>
              </a:rPr>
              <a:t>, </a:t>
            </a:r>
            <a:r>
              <a:rPr sz="1050" b="0" dirty="0" err="1">
                <a:solidFill>
                  <a:srgbClr val="B5C6DA"/>
                </a:solidFill>
                <a:latin typeface="Malgun Gothic"/>
              </a:rPr>
              <a:t>그</a:t>
            </a:r>
            <a:r>
              <a:rPr sz="1050" b="0" dirty="0">
                <a:solidFill>
                  <a:srgbClr val="B5C6DA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B5C6DA"/>
                </a:solidFill>
                <a:latin typeface="Malgun Gothic"/>
              </a:rPr>
              <a:t>안에서</a:t>
            </a:r>
            <a:r>
              <a:rPr sz="1050" b="0" dirty="0">
                <a:solidFill>
                  <a:srgbClr val="B5C6DA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B5C6DA"/>
                </a:solidFill>
                <a:latin typeface="Malgun Gothic"/>
              </a:rPr>
              <a:t>베이시스와</a:t>
            </a:r>
            <a:r>
              <a:rPr sz="1050" b="0" dirty="0">
                <a:solidFill>
                  <a:srgbClr val="B5C6DA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B5C6DA"/>
                </a:solidFill>
                <a:latin typeface="Malgun Gothic"/>
              </a:rPr>
              <a:t>차익</a:t>
            </a:r>
            <a:r>
              <a:rPr sz="1050" b="0" dirty="0">
                <a:solidFill>
                  <a:srgbClr val="B5C6DA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B5C6DA"/>
                </a:solidFill>
                <a:latin typeface="Malgun Gothic"/>
              </a:rPr>
              <a:t>기회를</a:t>
            </a:r>
            <a:r>
              <a:rPr sz="1050" b="0" dirty="0">
                <a:solidFill>
                  <a:srgbClr val="B5C6DA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B5C6DA"/>
                </a:solidFill>
                <a:latin typeface="Malgun Gothic"/>
              </a:rPr>
              <a:t>계속</a:t>
            </a:r>
            <a:r>
              <a:rPr sz="1050" b="0" dirty="0">
                <a:solidFill>
                  <a:srgbClr val="B5C6DA"/>
                </a:solidFill>
                <a:latin typeface="Malgun Gothic"/>
              </a:rPr>
              <a:t> </a:t>
            </a:r>
            <a:r>
              <a:rPr lang="ko-KR" altLang="en-US" sz="1050" b="0" dirty="0" err="1">
                <a:solidFill>
                  <a:srgbClr val="B5C6DA"/>
                </a:solidFill>
                <a:latin typeface="Malgun Gothic"/>
              </a:rPr>
              <a:t>관리해야함</a:t>
            </a:r>
            <a:endParaRPr sz="1050" b="0" dirty="0">
              <a:solidFill>
                <a:srgbClr val="B5C6DA"/>
              </a:solidFill>
              <a:latin typeface="Malgun Gothic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1064240" cy="1371600"/>
          </a:xfrm>
          <a:prstGeom prst="roundRect">
            <a:avLst/>
          </a:prstGeom>
          <a:solidFill>
            <a:srgbClr val="123558"/>
          </a:solidFill>
          <a:ln w="15240">
            <a:solidFill>
              <a:srgbClr val="284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591056"/>
            <a:ext cx="73152" cy="822960"/>
          </a:xfrm>
          <a:prstGeom prst="rect">
            <a:avLst/>
          </a:prstGeom>
          <a:solidFill>
            <a:srgbClr val="47D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42735"/>
            <a:ext cx="10149840" cy="1119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550" b="1" dirty="0">
                <a:solidFill>
                  <a:srgbClr val="F2F6FB"/>
                </a:solidFill>
                <a:latin typeface="Malgun Gothic"/>
              </a:rPr>
              <a:t>ETF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LP는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개별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종목이나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개별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ETF를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따로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처리하는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업무가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아니라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, </a:t>
            </a:r>
            <a:endParaRPr lang="en-US" sz="1550" b="1" dirty="0">
              <a:solidFill>
                <a:srgbClr val="F2F6FB"/>
              </a:solidFill>
              <a:latin typeface="Malgun Gothic"/>
            </a:endParaRPr>
          </a:p>
          <a:p>
            <a:pPr algn="l">
              <a:lnSpc>
                <a:spcPct val="150000"/>
              </a:lnSpc>
            </a:pPr>
            <a:r>
              <a:rPr lang="ko-KR" altLang="en-US" sz="1550" b="1" dirty="0">
                <a:solidFill>
                  <a:srgbClr val="F2F6FB"/>
                </a:solidFill>
                <a:latin typeface="Malgun Gothic"/>
              </a:rPr>
              <a:t>   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여러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ETF와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여러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헤지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수단을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하나의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북으로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묶어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운용하고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, </a:t>
            </a:r>
            <a:endParaRPr lang="en-US" sz="1550" b="1" dirty="0">
              <a:solidFill>
                <a:srgbClr val="F2F6FB"/>
              </a:solidFill>
              <a:latin typeface="Malgun Gothic"/>
            </a:endParaRPr>
          </a:p>
          <a:p>
            <a:pPr algn="l">
              <a:lnSpc>
                <a:spcPct val="150000"/>
              </a:lnSpc>
            </a:pPr>
            <a:r>
              <a:rPr lang="ko-KR" altLang="en-US" sz="1550" b="1" dirty="0">
                <a:solidFill>
                  <a:srgbClr val="F2F6FB"/>
                </a:solidFill>
                <a:latin typeface="Malgun Gothic"/>
              </a:rPr>
              <a:t>     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그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안에서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베이시스</a:t>
            </a:r>
            <a:r>
              <a:rPr lang="ko-KR" altLang="en-US" sz="1550" b="1" dirty="0">
                <a:solidFill>
                  <a:srgbClr val="F2F6FB"/>
                </a:solidFill>
                <a:latin typeface="Malgun Gothic"/>
              </a:rPr>
              <a:t> 차익 기회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와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통계적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차익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기회를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함께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관리하며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수익을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내는</a:t>
            </a:r>
            <a:r>
              <a:rPr sz="1550" b="1" dirty="0">
                <a:solidFill>
                  <a:srgbClr val="F2F6FB"/>
                </a:solidFill>
                <a:latin typeface="Malgun Gothic"/>
              </a:rPr>
              <a:t> </a:t>
            </a:r>
            <a:r>
              <a:rPr sz="1550" b="1" dirty="0" err="1">
                <a:solidFill>
                  <a:srgbClr val="F2F6FB"/>
                </a:solidFill>
                <a:latin typeface="Malgun Gothic"/>
              </a:rPr>
              <a:t>구조</a:t>
            </a:r>
            <a:r>
              <a:rPr lang="ko-KR" altLang="en-US" sz="1550" b="1" dirty="0" err="1">
                <a:solidFill>
                  <a:srgbClr val="F2F6FB"/>
                </a:solidFill>
                <a:latin typeface="Malgun Gothic"/>
              </a:rPr>
              <a:t>여야함</a:t>
            </a:r>
            <a:endParaRPr sz="1550" b="1" dirty="0">
              <a:solidFill>
                <a:srgbClr val="F2F6FB"/>
              </a:solidFill>
              <a:latin typeface="Malgun Gothi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4875" y="3041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dirty="0" err="1">
                <a:solidFill>
                  <a:srgbClr val="47D18C"/>
                </a:solidFill>
                <a:latin typeface="Malgun Gothic"/>
              </a:rPr>
              <a:t>이</a:t>
            </a:r>
            <a:r>
              <a:rPr sz="950" b="1" dirty="0">
                <a:solidFill>
                  <a:srgbClr val="47D18C"/>
                </a:solidFill>
                <a:latin typeface="Malgun Gothic"/>
              </a:rPr>
              <a:t> </a:t>
            </a:r>
            <a:r>
              <a:rPr sz="950" b="1" dirty="0" err="1">
                <a:solidFill>
                  <a:srgbClr val="47D18C"/>
                </a:solidFill>
                <a:latin typeface="Malgun Gothic"/>
              </a:rPr>
              <a:t>문장의</a:t>
            </a:r>
            <a:r>
              <a:rPr sz="950" b="1" dirty="0">
                <a:solidFill>
                  <a:srgbClr val="47D18C"/>
                </a:solidFill>
                <a:latin typeface="Malgun Gothic"/>
              </a:rPr>
              <a:t> </a:t>
            </a:r>
            <a:r>
              <a:rPr sz="950" b="1" dirty="0" err="1">
                <a:solidFill>
                  <a:srgbClr val="47D18C"/>
                </a:solidFill>
                <a:latin typeface="Malgun Gothic"/>
              </a:rPr>
              <a:t>핵심</a:t>
            </a:r>
            <a:endParaRPr sz="950" b="1" dirty="0">
              <a:solidFill>
                <a:srgbClr val="47D18C"/>
              </a:solidFill>
              <a:latin typeface="Malgun Gothic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FD156AD-C1C4-ED3E-2E5D-30C33698E8AF}"/>
              </a:ext>
            </a:extLst>
          </p:cNvPr>
          <p:cNvGrpSpPr/>
          <p:nvPr/>
        </p:nvGrpSpPr>
        <p:grpSpPr>
          <a:xfrm>
            <a:off x="548640" y="3429000"/>
            <a:ext cx="11064240" cy="2834640"/>
            <a:chOff x="548640" y="3154680"/>
            <a:chExt cx="11064240" cy="2834640"/>
          </a:xfrm>
        </p:grpSpPr>
        <p:sp>
          <p:nvSpPr>
            <p:cNvPr id="9" name="Rounded Rectangle 8"/>
            <p:cNvSpPr/>
            <p:nvPr/>
          </p:nvSpPr>
          <p:spPr>
            <a:xfrm>
              <a:off x="548640" y="3154680"/>
              <a:ext cx="11064240" cy="2834640"/>
            </a:xfrm>
            <a:prstGeom prst="roundRect">
              <a:avLst/>
            </a:prstGeom>
            <a:solidFill>
              <a:srgbClr val="0E2A4A"/>
            </a:solidFill>
            <a:ln w="15240">
              <a:solidFill>
                <a:srgbClr val="284A7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Oval 9"/>
            <p:cNvSpPr/>
            <p:nvPr/>
          </p:nvSpPr>
          <p:spPr>
            <a:xfrm>
              <a:off x="804672" y="3401568"/>
              <a:ext cx="256032" cy="256032"/>
            </a:xfrm>
            <a:prstGeom prst="ellipse">
              <a:avLst/>
            </a:prstGeom>
            <a:solidFill>
              <a:srgbClr val="47D18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000" b="1">
                  <a:solidFill>
                    <a:srgbClr val="081A2F"/>
                  </a:solidFill>
                  <a:latin typeface="Malgun Gothic"/>
                </a:rPr>
                <a:t>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33856" y="3383280"/>
              <a:ext cx="10058400" cy="2693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150" dirty="0">
                  <a:solidFill>
                    <a:srgbClr val="F2F6FB"/>
                  </a:solidFill>
                  <a:latin typeface="Malgun Gothic"/>
                </a:rPr>
                <a:t>ETF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LP의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핵심은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개별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ETF를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바로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정리하는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것이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아니라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,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여러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ETF와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헤지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수단을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하나의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북으로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보고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통합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관리하는</a:t>
              </a:r>
              <a:r>
                <a:rPr lang="ko-KR" altLang="en-US"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데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있</a:t>
              </a:r>
              <a:r>
                <a:rPr lang="ko-KR" altLang="en-US" sz="1150" dirty="0">
                  <a:solidFill>
                    <a:srgbClr val="F2F6FB"/>
                  </a:solidFill>
                  <a:latin typeface="Malgun Gothic"/>
                </a:rPr>
                <a:t>음</a:t>
              </a:r>
              <a:endParaRPr sz="1150" dirty="0">
                <a:solidFill>
                  <a:srgbClr val="F2F6FB"/>
                </a:solidFill>
                <a:latin typeface="Malgun Gothic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804672" y="3904488"/>
              <a:ext cx="256032" cy="256032"/>
            </a:xfrm>
            <a:prstGeom prst="ellipse">
              <a:avLst/>
            </a:prstGeom>
            <a:solidFill>
              <a:srgbClr val="47D18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000" b="1">
                  <a:solidFill>
                    <a:srgbClr val="081A2F"/>
                  </a:solidFill>
                  <a:latin typeface="Malgun Gothic"/>
                </a:rPr>
                <a:t>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33856" y="3886200"/>
              <a:ext cx="10058400" cy="2693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수익은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단순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괴리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대응에서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끝나는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것이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아니라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,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북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안에서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발생하는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베이시스와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상대가치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기회를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계속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수익으로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바꾸는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과정에서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커</a:t>
              </a:r>
              <a:r>
                <a:rPr lang="ko-KR" altLang="en-US" sz="1150" dirty="0">
                  <a:solidFill>
                    <a:srgbClr val="F2F6FB"/>
                  </a:solidFill>
                  <a:latin typeface="Malgun Gothic"/>
                </a:rPr>
                <a:t>짐</a:t>
              </a:r>
              <a:endParaRPr sz="1150" dirty="0">
                <a:solidFill>
                  <a:srgbClr val="F2F6FB"/>
                </a:solidFill>
                <a:latin typeface="Malgun Gothic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804672" y="4407408"/>
              <a:ext cx="256032" cy="256032"/>
            </a:xfrm>
            <a:prstGeom prst="ellipse">
              <a:avLst/>
            </a:prstGeom>
            <a:solidFill>
              <a:srgbClr val="47D18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000" b="1">
                  <a:solidFill>
                    <a:srgbClr val="081A2F"/>
                  </a:solidFill>
                  <a:latin typeface="Malgun Gothic"/>
                </a:rPr>
                <a:t>3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133856" y="4389120"/>
              <a:ext cx="10058400" cy="2693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150" dirty="0">
                  <a:solidFill>
                    <a:srgbClr val="F2F6FB"/>
                  </a:solidFill>
                  <a:latin typeface="Malgun Gothic"/>
                </a:rPr>
                <a:t>해외 대형 </a:t>
              </a:r>
              <a:r>
                <a:rPr lang="en-US" altLang="ko-KR" sz="1150" dirty="0">
                  <a:solidFill>
                    <a:srgbClr val="F2F6FB"/>
                  </a:solidFill>
                  <a:latin typeface="Malgun Gothic"/>
                </a:rPr>
                <a:t>LP/MM</a:t>
              </a:r>
              <a:r>
                <a:rPr lang="ko-KR" altLang="en-US" sz="1150" dirty="0">
                  <a:solidFill>
                    <a:srgbClr val="F2F6FB"/>
                  </a:solidFill>
                  <a:latin typeface="Malgun Gothic"/>
                </a:rPr>
                <a:t>도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ETF를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종목별로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끊어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보지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않고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,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여러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포지션을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함께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묶어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관리하면서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차익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기회를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lang="ko-KR" altLang="en-US" sz="1150" dirty="0">
                  <a:solidFill>
                    <a:srgbClr val="F2F6FB"/>
                  </a:solidFill>
                  <a:latin typeface="Malgun Gothic"/>
                </a:rPr>
                <a:t>확장함</a:t>
              </a:r>
              <a:endParaRPr sz="1150" dirty="0">
                <a:solidFill>
                  <a:srgbClr val="F2F6FB"/>
                </a:solidFill>
                <a:latin typeface="Malgun Gothic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804672" y="4910328"/>
              <a:ext cx="256032" cy="256032"/>
            </a:xfrm>
            <a:prstGeom prst="ellipse">
              <a:avLst/>
            </a:prstGeom>
            <a:solidFill>
              <a:srgbClr val="47D18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000" b="1">
                  <a:solidFill>
                    <a:srgbClr val="081A2F"/>
                  </a:solidFill>
                  <a:latin typeface="Malgun Gothic"/>
                </a:rPr>
                <a:t>4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133856" y="4892040"/>
              <a:ext cx="10058400" cy="2693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설정·환매는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정리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절차가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아니라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,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여러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선택지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중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가장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효율적인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정리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수단이어야</a:t>
              </a:r>
              <a:r>
                <a:rPr lang="ko-KR" altLang="en-US" sz="1150" dirty="0">
                  <a:solidFill>
                    <a:srgbClr val="F2F6FB"/>
                  </a:solidFill>
                  <a:latin typeface="Malgun Gothic"/>
                </a:rPr>
                <a:t>함</a:t>
              </a:r>
              <a:endParaRPr sz="1150" dirty="0">
                <a:solidFill>
                  <a:srgbClr val="F2F6FB"/>
                </a:solidFill>
                <a:latin typeface="Malgun Gothic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804672" y="5413248"/>
              <a:ext cx="256032" cy="256032"/>
            </a:xfrm>
            <a:prstGeom prst="ellipse">
              <a:avLst/>
            </a:prstGeom>
            <a:solidFill>
              <a:srgbClr val="47D18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000" b="1" dirty="0">
                  <a:solidFill>
                    <a:srgbClr val="081A2F"/>
                  </a:solidFill>
                  <a:latin typeface="Malgun Gothic"/>
                </a:rPr>
                <a:t>5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33856" y="5394960"/>
              <a:ext cx="10058400" cy="2693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결국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ETF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LP는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재고를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빨리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없애는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일이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아니라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,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북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전체를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관리하면서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남는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기회를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수익으로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연결하는</a:t>
              </a:r>
              <a:r>
                <a:rPr sz="1150" dirty="0">
                  <a:solidFill>
                    <a:srgbClr val="F2F6FB"/>
                  </a:solidFill>
                  <a:latin typeface="Malgun Gothic"/>
                </a:rPr>
                <a:t> </a:t>
              </a:r>
              <a:r>
                <a:rPr sz="1150" dirty="0" err="1">
                  <a:solidFill>
                    <a:srgbClr val="F2F6FB"/>
                  </a:solidFill>
                  <a:latin typeface="Malgun Gothic"/>
                </a:rPr>
                <a:t>일</a:t>
              </a:r>
              <a:endParaRPr sz="1150" dirty="0">
                <a:solidFill>
                  <a:srgbClr val="F2F6FB"/>
                </a:solidFill>
                <a:latin typeface="Malgun Gothic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</a:rPr>
              <a:t>Fair </a:t>
            </a:r>
            <a:r>
              <a:rPr lang="en-US" sz="2400" b="1" dirty="0" err="1">
                <a:solidFill>
                  <a:srgbClr val="FFFFFF"/>
                </a:solidFill>
              </a:rPr>
              <a:t>value</a:t>
            </a:r>
            <a:r>
              <a:rPr sz="2400" b="1" dirty="0" err="1">
                <a:solidFill>
                  <a:srgbClr val="FFFFFF"/>
                </a:solidFill>
              </a:rPr>
              <a:t>를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모르면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체결가만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sz="2400" b="1" dirty="0" err="1">
                <a:solidFill>
                  <a:srgbClr val="FFFFFF"/>
                </a:solidFill>
              </a:rPr>
              <a:t>보게</a:t>
            </a:r>
            <a:r>
              <a:rPr sz="2400" b="1" dirty="0">
                <a:solidFill>
                  <a:srgbClr val="FFFFFF"/>
                </a:solidFill>
              </a:rPr>
              <a:t> </a:t>
            </a:r>
            <a:r>
              <a:rPr lang="ko-KR" altLang="en-US" sz="2400" b="1" dirty="0">
                <a:solidFill>
                  <a:srgbClr val="FFFFFF"/>
                </a:solidFill>
              </a:rPr>
              <a:t>됨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200" dirty="0">
                <a:solidFill>
                  <a:srgbClr val="B4DCFF"/>
                </a:solidFill>
              </a:rPr>
              <a:t>기준</a:t>
            </a:r>
            <a:r>
              <a:rPr sz="1200" b="0" dirty="0" err="1">
                <a:solidFill>
                  <a:srgbClr val="B4DCFF"/>
                </a:solidFill>
              </a:rPr>
              <a:t>가는</a:t>
            </a:r>
            <a:r>
              <a:rPr sz="1200" b="0" dirty="0">
                <a:solidFill>
                  <a:srgbClr val="B4DCFF"/>
                </a:solidFill>
              </a:rPr>
              <a:t> 100% </a:t>
            </a:r>
            <a:r>
              <a:rPr sz="1200" b="0" dirty="0" err="1">
                <a:solidFill>
                  <a:srgbClr val="B4DCFF"/>
                </a:solidFill>
              </a:rPr>
              <a:t>정답을</a:t>
            </a:r>
            <a:r>
              <a:rPr sz="1200" b="0" dirty="0">
                <a:solidFill>
                  <a:srgbClr val="B4DCFF"/>
                </a:solidFill>
              </a:rPr>
              <a:t> </a:t>
            </a:r>
            <a:r>
              <a:rPr sz="1200" b="0" dirty="0" err="1">
                <a:solidFill>
                  <a:srgbClr val="B4DCFF"/>
                </a:solidFill>
              </a:rPr>
              <a:t>맞히는</a:t>
            </a:r>
            <a:r>
              <a:rPr sz="1200" b="0" dirty="0">
                <a:solidFill>
                  <a:srgbClr val="B4DCFF"/>
                </a:solidFill>
              </a:rPr>
              <a:t> </a:t>
            </a:r>
            <a:r>
              <a:rPr sz="1200" b="0" dirty="0" err="1">
                <a:solidFill>
                  <a:srgbClr val="B4DCFF"/>
                </a:solidFill>
              </a:rPr>
              <a:t>것이</a:t>
            </a:r>
            <a:r>
              <a:rPr sz="1200" b="0" dirty="0">
                <a:solidFill>
                  <a:srgbClr val="B4DCFF"/>
                </a:solidFill>
              </a:rPr>
              <a:t> </a:t>
            </a:r>
            <a:r>
              <a:rPr sz="1200" b="0" dirty="0" err="1">
                <a:solidFill>
                  <a:srgbClr val="B4DCFF"/>
                </a:solidFill>
              </a:rPr>
              <a:t>아니라</a:t>
            </a:r>
            <a:r>
              <a:rPr sz="1200" b="0" dirty="0">
                <a:solidFill>
                  <a:srgbClr val="B4DCFF"/>
                </a:solidFill>
              </a:rPr>
              <a:t>, </a:t>
            </a:r>
            <a:r>
              <a:rPr sz="1200" b="0" dirty="0" err="1">
                <a:solidFill>
                  <a:srgbClr val="B4DCFF"/>
                </a:solidFill>
              </a:rPr>
              <a:t>같은</a:t>
            </a:r>
            <a:r>
              <a:rPr sz="1200" b="0" dirty="0">
                <a:solidFill>
                  <a:srgbClr val="B4DCFF"/>
                </a:solidFill>
              </a:rPr>
              <a:t> </a:t>
            </a:r>
            <a:r>
              <a:rPr sz="1200" b="0" dirty="0" err="1">
                <a:solidFill>
                  <a:srgbClr val="B4DCFF"/>
                </a:solidFill>
              </a:rPr>
              <a:t>위험</a:t>
            </a:r>
            <a:r>
              <a:rPr sz="1200" b="0" dirty="0">
                <a:solidFill>
                  <a:srgbClr val="B4DCFF"/>
                </a:solidFill>
              </a:rPr>
              <a:t> </a:t>
            </a:r>
            <a:r>
              <a:rPr sz="1200" b="0" dirty="0" err="1">
                <a:solidFill>
                  <a:srgbClr val="B4DCFF"/>
                </a:solidFill>
              </a:rPr>
              <a:t>안에서</a:t>
            </a:r>
            <a:r>
              <a:rPr sz="1200" b="0" dirty="0">
                <a:solidFill>
                  <a:srgbClr val="B4DCFF"/>
                </a:solidFill>
              </a:rPr>
              <a:t> </a:t>
            </a:r>
            <a:r>
              <a:rPr sz="1200" b="0" dirty="0" err="1">
                <a:solidFill>
                  <a:srgbClr val="B4DCFF"/>
                </a:solidFill>
              </a:rPr>
              <a:t>남보다</a:t>
            </a:r>
            <a:r>
              <a:rPr sz="1200" b="0" dirty="0">
                <a:solidFill>
                  <a:srgbClr val="B4DCFF"/>
                </a:solidFill>
              </a:rPr>
              <a:t> </a:t>
            </a:r>
            <a:r>
              <a:rPr sz="1200" b="0" dirty="0" err="1">
                <a:solidFill>
                  <a:srgbClr val="B4DCFF"/>
                </a:solidFill>
              </a:rPr>
              <a:t>조금</a:t>
            </a:r>
            <a:r>
              <a:rPr sz="1200" b="0" dirty="0">
                <a:solidFill>
                  <a:srgbClr val="B4DCFF"/>
                </a:solidFill>
              </a:rPr>
              <a:t> </a:t>
            </a:r>
            <a:r>
              <a:rPr sz="1200" b="0" dirty="0" err="1">
                <a:solidFill>
                  <a:srgbClr val="B4DCFF"/>
                </a:solidFill>
              </a:rPr>
              <a:t>더</a:t>
            </a:r>
            <a:r>
              <a:rPr sz="1200" b="0" dirty="0">
                <a:solidFill>
                  <a:srgbClr val="B4DCFF"/>
                </a:solidFill>
              </a:rPr>
              <a:t> </a:t>
            </a:r>
            <a:r>
              <a:rPr sz="1200" b="0" dirty="0" err="1">
                <a:solidFill>
                  <a:srgbClr val="B4DCFF"/>
                </a:solidFill>
              </a:rPr>
              <a:t>정확하게</a:t>
            </a:r>
            <a:r>
              <a:rPr sz="1200" b="0" dirty="0">
                <a:solidFill>
                  <a:srgbClr val="B4DCFF"/>
                </a:solidFill>
              </a:rPr>
              <a:t> </a:t>
            </a:r>
            <a:r>
              <a:rPr sz="1200" b="0" dirty="0" err="1">
                <a:solidFill>
                  <a:srgbClr val="B4DCFF"/>
                </a:solidFill>
              </a:rPr>
              <a:t>판단하는</a:t>
            </a:r>
            <a:r>
              <a:rPr sz="1200" b="0" dirty="0">
                <a:solidFill>
                  <a:srgbClr val="B4DCFF"/>
                </a:solidFill>
              </a:rPr>
              <a:t> </a:t>
            </a:r>
            <a:r>
              <a:rPr sz="1200" b="0" dirty="0" err="1">
                <a:solidFill>
                  <a:srgbClr val="B4DCFF"/>
                </a:solidFill>
              </a:rPr>
              <a:t>기준</a:t>
            </a:r>
            <a:r>
              <a:rPr sz="1200" b="0" dirty="0">
                <a:solidFill>
                  <a:srgbClr val="B4DCFF"/>
                </a:solidFill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07086"/>
            <a:ext cx="5486400" cy="4221302"/>
          </a:xfrm>
          <a:prstGeom prst="roundRect">
            <a:avLst/>
          </a:prstGeom>
          <a:solidFill>
            <a:srgbClr val="0B284C"/>
          </a:solidFill>
          <a:ln>
            <a:solidFill>
              <a:srgbClr val="30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7920" y="1407086"/>
            <a:ext cx="5440680" cy="4221302"/>
          </a:xfrm>
          <a:prstGeom prst="roundRect">
            <a:avLst/>
          </a:prstGeom>
          <a:solidFill>
            <a:srgbClr val="0B284C"/>
          </a:solidFill>
          <a:ln>
            <a:solidFill>
              <a:srgbClr val="30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8388" y="16626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CF0C2"/>
                </a:solidFill>
              </a:rPr>
              <a:t>왜 지금 당일 0정리로 가는가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0528" y="1683529"/>
            <a:ext cx="44805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 err="1">
                <a:solidFill>
                  <a:srgbClr val="5CF0C2"/>
                </a:solidFill>
              </a:rPr>
              <a:t>그래서</a:t>
            </a:r>
            <a:r>
              <a:rPr sz="1700" b="1" dirty="0">
                <a:solidFill>
                  <a:srgbClr val="5CF0C2"/>
                </a:solidFill>
              </a:rPr>
              <a:t> </a:t>
            </a:r>
            <a:r>
              <a:rPr sz="1700" b="1" dirty="0" err="1">
                <a:solidFill>
                  <a:srgbClr val="5CF0C2"/>
                </a:solidFill>
              </a:rPr>
              <a:t>필요한</a:t>
            </a:r>
            <a:r>
              <a:rPr sz="1700" b="1" dirty="0">
                <a:solidFill>
                  <a:srgbClr val="5CF0C2"/>
                </a:solidFill>
              </a:rPr>
              <a:t> </a:t>
            </a:r>
            <a:r>
              <a:rPr lang="en-US" sz="1700" b="1" dirty="0">
                <a:solidFill>
                  <a:srgbClr val="5CF0C2"/>
                </a:solidFill>
              </a:rPr>
              <a:t>Fair value</a:t>
            </a:r>
            <a:r>
              <a:rPr sz="1700" b="1" dirty="0">
                <a:solidFill>
                  <a:srgbClr val="5CF0C2"/>
                </a:solidFill>
              </a:rPr>
              <a:t> </a:t>
            </a:r>
            <a:r>
              <a:rPr sz="1700" b="1" dirty="0" err="1">
                <a:solidFill>
                  <a:srgbClr val="5CF0C2"/>
                </a:solidFill>
              </a:rPr>
              <a:t>체계</a:t>
            </a:r>
            <a:endParaRPr sz="1700" b="1" dirty="0">
              <a:solidFill>
                <a:srgbClr val="5CF0C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8" y="2206195"/>
            <a:ext cx="470916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dirty="0">
                <a:solidFill>
                  <a:srgbClr val="FFFFFF"/>
                </a:solidFill>
              </a:rPr>
              <a:t>• </a:t>
            </a:r>
            <a:r>
              <a:rPr sz="1400" dirty="0" err="1">
                <a:solidFill>
                  <a:srgbClr val="FFFFFF"/>
                </a:solidFill>
              </a:rPr>
              <a:t>내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포지션의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현재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가치와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기대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이익을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판단할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기준이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약</a:t>
            </a:r>
            <a:r>
              <a:rPr lang="ko-KR" altLang="en-US" sz="1400" dirty="0">
                <a:solidFill>
                  <a:srgbClr val="FFFFFF"/>
                </a:solidFill>
              </a:rPr>
              <a:t>함</a:t>
            </a:r>
            <a:endParaRPr sz="1400" dirty="0">
              <a:solidFill>
                <a:srgbClr val="FFFFFF"/>
              </a:solidFill>
            </a:endParaRPr>
          </a:p>
          <a:p>
            <a:pPr>
              <a:spcAft>
                <a:spcPts val="1200"/>
              </a:spcAft>
            </a:pPr>
            <a:r>
              <a:rPr sz="1400" dirty="0">
                <a:solidFill>
                  <a:srgbClr val="FFFFFF"/>
                </a:solidFill>
              </a:rPr>
              <a:t>• </a:t>
            </a:r>
            <a:r>
              <a:rPr sz="1400" dirty="0" err="1">
                <a:solidFill>
                  <a:srgbClr val="FFFFFF"/>
                </a:solidFill>
              </a:rPr>
              <a:t>그래서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체결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뒤에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남는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기회를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보기보다</a:t>
            </a:r>
            <a:r>
              <a:rPr sz="1400" dirty="0">
                <a:solidFill>
                  <a:srgbClr val="FFFFFF"/>
                </a:solidFill>
              </a:rPr>
              <a:t>, </a:t>
            </a:r>
            <a:r>
              <a:rPr sz="1400" dirty="0" err="1">
                <a:solidFill>
                  <a:srgbClr val="FFFFFF"/>
                </a:solidFill>
              </a:rPr>
              <a:t>빨리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털어서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불확실성을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없애려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lang="ko-KR" altLang="en-US" sz="1400" dirty="0">
                <a:solidFill>
                  <a:srgbClr val="FFFFFF"/>
                </a:solidFill>
              </a:rPr>
              <a:t>함</a:t>
            </a:r>
            <a:endParaRPr sz="1400" dirty="0">
              <a:solidFill>
                <a:srgbClr val="FFFFFF"/>
              </a:solidFill>
            </a:endParaRPr>
          </a:p>
          <a:p>
            <a:pPr>
              <a:spcAft>
                <a:spcPts val="1200"/>
              </a:spcAft>
            </a:pPr>
            <a:r>
              <a:rPr sz="1400" dirty="0">
                <a:solidFill>
                  <a:srgbClr val="FFFFFF"/>
                </a:solidFill>
              </a:rPr>
              <a:t>• </a:t>
            </a:r>
            <a:r>
              <a:rPr sz="1400" dirty="0" err="1">
                <a:solidFill>
                  <a:srgbClr val="FFFFFF"/>
                </a:solidFill>
              </a:rPr>
              <a:t>결국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체결가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확인은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되지만</a:t>
            </a:r>
            <a:r>
              <a:rPr sz="1400" dirty="0">
                <a:solidFill>
                  <a:srgbClr val="FFFFFF"/>
                </a:solidFill>
              </a:rPr>
              <a:t>, </a:t>
            </a:r>
            <a:r>
              <a:rPr sz="1400" dirty="0" err="1">
                <a:solidFill>
                  <a:srgbClr val="FFFFFF"/>
                </a:solidFill>
              </a:rPr>
              <a:t>지금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들어가는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호가가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유리한지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판단이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lang="ko-KR" altLang="en-US" sz="1400" dirty="0">
                <a:solidFill>
                  <a:srgbClr val="FFFFFF"/>
                </a:solidFill>
              </a:rPr>
              <a:t>어려움</a:t>
            </a:r>
            <a:endParaRPr lang="en-US" altLang="ko-KR" sz="1400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0528" y="2191744"/>
            <a:ext cx="494503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dirty="0">
                <a:solidFill>
                  <a:srgbClr val="FFFFFF"/>
                </a:solidFill>
              </a:rPr>
              <a:t>• </a:t>
            </a:r>
            <a:r>
              <a:rPr lang="ko-KR" altLang="en-US" sz="1400" dirty="0">
                <a:solidFill>
                  <a:srgbClr val="FFFFFF"/>
                </a:solidFill>
              </a:rPr>
              <a:t>주식선물을 껴서 </a:t>
            </a:r>
            <a:r>
              <a:rPr lang="en-US" altLang="ko-KR" sz="1400" dirty="0">
                <a:solidFill>
                  <a:srgbClr val="FFFFFF"/>
                </a:solidFill>
              </a:rPr>
              <a:t>f-nav</a:t>
            </a:r>
            <a:r>
              <a:rPr lang="ko-KR" altLang="en-US" sz="1400" dirty="0" err="1">
                <a:solidFill>
                  <a:srgbClr val="FFFFFF"/>
                </a:solidFill>
              </a:rPr>
              <a:t>를</a:t>
            </a:r>
            <a:r>
              <a:rPr lang="ko-KR" altLang="en-US" sz="1400" dirty="0">
                <a:solidFill>
                  <a:srgbClr val="FFFFFF"/>
                </a:solidFill>
              </a:rPr>
              <a:t> 구했던 것처럼 </a:t>
            </a:r>
            <a:r>
              <a:rPr lang="ko-KR" altLang="en-US" sz="1400" dirty="0" err="1">
                <a:solidFill>
                  <a:srgbClr val="FFFFFF"/>
                </a:solidFill>
              </a:rPr>
              <a:t>헤지수단의</a:t>
            </a:r>
            <a:r>
              <a:rPr lang="ko-KR" altLang="en-US" sz="1400" dirty="0">
                <a:solidFill>
                  <a:srgbClr val="FFFFFF"/>
                </a:solidFill>
              </a:rPr>
              <a:t> 가격과 </a:t>
            </a:r>
            <a:r>
              <a:rPr lang="ko-KR" altLang="en-US" sz="1400" dirty="0" err="1">
                <a:solidFill>
                  <a:srgbClr val="FFFFFF"/>
                </a:solidFill>
              </a:rPr>
              <a:t>베이시스를</a:t>
            </a:r>
            <a:r>
              <a:rPr lang="ko-KR" altLang="en-US" sz="1400" dirty="0">
                <a:solidFill>
                  <a:srgbClr val="FFFFFF"/>
                </a:solidFill>
              </a:rPr>
              <a:t> 반영한 기준가를 </a:t>
            </a:r>
            <a:r>
              <a:rPr lang="ko-KR" altLang="en-US" sz="1400" dirty="0" err="1">
                <a:solidFill>
                  <a:srgbClr val="FFFFFF"/>
                </a:solidFill>
              </a:rPr>
              <a:t>구해야함</a:t>
            </a:r>
            <a:endParaRPr lang="en-US" sz="1400" dirty="0">
              <a:solidFill>
                <a:srgbClr val="FFFFFF"/>
              </a:solidFill>
            </a:endParaRPr>
          </a:p>
          <a:p>
            <a:pPr>
              <a:spcAft>
                <a:spcPts val="1200"/>
              </a:spcAft>
            </a:pPr>
            <a:r>
              <a:rPr sz="1400" dirty="0">
                <a:solidFill>
                  <a:srgbClr val="FFFFFF"/>
                </a:solidFill>
              </a:rPr>
              <a:t>• </a:t>
            </a:r>
            <a:r>
              <a:rPr lang="ko-KR" altLang="en-US" sz="1400" dirty="0">
                <a:solidFill>
                  <a:srgbClr val="FFFFFF"/>
                </a:solidFill>
              </a:rPr>
              <a:t>이 기준가는 여러 </a:t>
            </a:r>
            <a:r>
              <a:rPr lang="en-US" altLang="ko-KR" sz="1400" dirty="0">
                <a:solidFill>
                  <a:srgbClr val="FFFFFF"/>
                </a:solidFill>
              </a:rPr>
              <a:t>ETF</a:t>
            </a:r>
            <a:r>
              <a:rPr lang="ko-KR" altLang="en-US" sz="1400" dirty="0">
                <a:solidFill>
                  <a:srgbClr val="FFFFFF"/>
                </a:solidFill>
              </a:rPr>
              <a:t>와 </a:t>
            </a:r>
            <a:r>
              <a:rPr lang="ko-KR" altLang="en-US" sz="1400" dirty="0" err="1">
                <a:solidFill>
                  <a:srgbClr val="FFFFFF"/>
                </a:solidFill>
              </a:rPr>
              <a:t>헤지수단을</a:t>
            </a:r>
            <a:r>
              <a:rPr lang="ko-KR" altLang="en-US" sz="1400" dirty="0">
                <a:solidFill>
                  <a:srgbClr val="FFFFFF"/>
                </a:solidFill>
              </a:rPr>
              <a:t> 매매하며 </a:t>
            </a:r>
            <a:r>
              <a:rPr lang="en-US" altLang="ko-KR" sz="1400" dirty="0">
                <a:solidFill>
                  <a:srgbClr val="FFFFFF"/>
                </a:solidFill>
              </a:rPr>
              <a:t/>
            </a:r>
            <a:br>
              <a:rPr lang="en-US" altLang="ko-KR" sz="1400" dirty="0">
                <a:solidFill>
                  <a:srgbClr val="FFFFFF"/>
                </a:solidFill>
              </a:rPr>
            </a:br>
            <a:r>
              <a:rPr lang="ko-KR" altLang="en-US" sz="1400" dirty="0">
                <a:solidFill>
                  <a:srgbClr val="FFFFFF"/>
                </a:solidFill>
              </a:rPr>
              <a:t>  </a:t>
            </a:r>
            <a:r>
              <a:rPr lang="ko-KR" altLang="en-US" sz="1400" dirty="0" err="1">
                <a:solidFill>
                  <a:srgbClr val="FFFFFF"/>
                </a:solidFill>
              </a:rPr>
              <a:t>넷팅</a:t>
            </a:r>
            <a:r>
              <a:rPr lang="ko-KR" altLang="en-US" sz="1400" dirty="0">
                <a:solidFill>
                  <a:srgbClr val="FFFFFF"/>
                </a:solidFill>
              </a:rPr>
              <a:t> 바스켓</a:t>
            </a:r>
            <a:r>
              <a:rPr lang="en-US" altLang="ko-KR" sz="1400" dirty="0">
                <a:solidFill>
                  <a:srgbClr val="FFFFFF"/>
                </a:solidFill>
              </a:rPr>
              <a:t>,</a:t>
            </a:r>
            <a:r>
              <a:rPr lang="ko-KR" altLang="en-US" sz="1400" dirty="0">
                <a:solidFill>
                  <a:srgbClr val="FFFFFF"/>
                </a:solidFill>
              </a:rPr>
              <a:t> 종목</a:t>
            </a:r>
            <a:r>
              <a:rPr lang="en-US" altLang="ko-KR" sz="1400" dirty="0">
                <a:solidFill>
                  <a:srgbClr val="FFFFFF"/>
                </a:solidFill>
              </a:rPr>
              <a:t>/</a:t>
            </a:r>
            <a:r>
              <a:rPr lang="ko-KR" altLang="en-US" sz="1400" dirty="0">
                <a:solidFill>
                  <a:srgbClr val="FFFFFF"/>
                </a:solidFill>
              </a:rPr>
              <a:t>지수 </a:t>
            </a:r>
            <a:r>
              <a:rPr lang="ko-KR" altLang="en-US" sz="1400" dirty="0" err="1">
                <a:solidFill>
                  <a:srgbClr val="FFFFFF"/>
                </a:solidFill>
              </a:rPr>
              <a:t>베이시스</a:t>
            </a:r>
            <a:r>
              <a:rPr lang="ko-KR" altLang="en-US" sz="1400" dirty="0">
                <a:solidFill>
                  <a:srgbClr val="FFFFFF"/>
                </a:solidFill>
              </a:rPr>
              <a:t> 트레이딩</a:t>
            </a:r>
            <a:r>
              <a:rPr lang="en-US" altLang="ko-KR" sz="1400" dirty="0">
                <a:solidFill>
                  <a:srgbClr val="FFFFFF"/>
                </a:solidFill>
              </a:rPr>
              <a:t>,</a:t>
            </a:r>
            <a:r>
              <a:rPr lang="ko-KR" altLang="en-US" sz="1400" dirty="0">
                <a:solidFill>
                  <a:srgbClr val="FFFFFF"/>
                </a:solidFill>
              </a:rPr>
              <a:t> 통계적</a:t>
            </a:r>
            <a:r>
              <a:rPr lang="en-US" altLang="ko-KR" sz="1400" dirty="0">
                <a:solidFill>
                  <a:srgbClr val="FFFFFF"/>
                </a:solidFill>
              </a:rPr>
              <a:t/>
            </a:r>
            <a:br>
              <a:rPr lang="en-US" altLang="ko-KR" sz="1400" dirty="0">
                <a:solidFill>
                  <a:srgbClr val="FFFFFF"/>
                </a:solidFill>
              </a:rPr>
            </a:br>
            <a:r>
              <a:rPr lang="ko-KR" altLang="en-US" sz="1400" dirty="0">
                <a:solidFill>
                  <a:srgbClr val="FFFFFF"/>
                </a:solidFill>
              </a:rPr>
              <a:t>  차익거래가 가능해짐</a:t>
            </a:r>
            <a:endParaRPr sz="1400" dirty="0">
              <a:solidFill>
                <a:srgbClr val="FFFFFF"/>
              </a:solidFill>
            </a:endParaRPr>
          </a:p>
          <a:p>
            <a:pPr>
              <a:spcAft>
                <a:spcPts val="1200"/>
              </a:spcAft>
            </a:pPr>
            <a:r>
              <a:rPr sz="1400" dirty="0">
                <a:solidFill>
                  <a:srgbClr val="FFFFFF"/>
                </a:solidFill>
              </a:rPr>
              <a:t>• </a:t>
            </a:r>
            <a:r>
              <a:rPr sz="1400" dirty="0" err="1">
                <a:solidFill>
                  <a:srgbClr val="FFFFFF"/>
                </a:solidFill>
              </a:rPr>
              <a:t>목표는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완벽한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정답이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아니라</a:t>
            </a:r>
            <a:r>
              <a:rPr sz="1400" dirty="0">
                <a:solidFill>
                  <a:srgbClr val="FFFFFF"/>
                </a:solidFill>
              </a:rPr>
              <a:t>, </a:t>
            </a:r>
            <a:r>
              <a:rPr sz="1400" dirty="0" err="1">
                <a:solidFill>
                  <a:srgbClr val="FFFFFF"/>
                </a:solidFill>
              </a:rPr>
              <a:t>더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나은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호가와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더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싼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헤지를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고르는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것</a:t>
            </a:r>
            <a:endParaRPr lang="en-US" sz="1400" dirty="0">
              <a:solidFill>
                <a:srgbClr val="FFFFFF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0ABB-870A-748D-2279-991880432959}"/>
              </a:ext>
            </a:extLst>
          </p:cNvPr>
          <p:cNvGrpSpPr/>
          <p:nvPr/>
        </p:nvGrpSpPr>
        <p:grpSpPr>
          <a:xfrm>
            <a:off x="725557" y="5895201"/>
            <a:ext cx="10881360" cy="649421"/>
            <a:chOff x="685800" y="5532120"/>
            <a:chExt cx="10881360" cy="649421"/>
          </a:xfrm>
        </p:grpSpPr>
        <p:sp>
          <p:nvSpPr>
            <p:cNvPr id="10" name="Rounded Rectangle 9"/>
            <p:cNvSpPr/>
            <p:nvPr/>
          </p:nvSpPr>
          <p:spPr>
            <a:xfrm>
              <a:off x="685800" y="5532120"/>
              <a:ext cx="10881360" cy="640080"/>
            </a:xfrm>
            <a:prstGeom prst="roundRect">
              <a:avLst/>
            </a:prstGeom>
            <a:solidFill>
              <a:srgbClr val="0E3662"/>
            </a:solidFill>
            <a:ln>
              <a:solidFill>
                <a:srgbClr val="0E366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06780" y="5673710"/>
              <a:ext cx="10378440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1" dirty="0" err="1">
                  <a:solidFill>
                    <a:srgbClr val="FFFFFF"/>
                  </a:solidFill>
                </a:rPr>
                <a:t>핵심</a:t>
              </a:r>
              <a:r>
                <a:rPr sz="1500" b="1" dirty="0">
                  <a:solidFill>
                    <a:srgbClr val="FFFFFF"/>
                  </a:solidFill>
                </a:rPr>
                <a:t>: </a:t>
              </a:r>
              <a:r>
                <a:rPr sz="1500" b="1" dirty="0" err="1">
                  <a:solidFill>
                    <a:srgbClr val="FFFFFF"/>
                  </a:solidFill>
                </a:rPr>
                <a:t>기준가가</a:t>
              </a:r>
              <a:r>
                <a:rPr sz="1500" b="1" dirty="0">
                  <a:solidFill>
                    <a:srgbClr val="FFFFFF"/>
                  </a:solidFill>
                </a:rPr>
                <a:t> </a:t>
              </a:r>
              <a:r>
                <a:rPr sz="1500" b="1" dirty="0" err="1">
                  <a:solidFill>
                    <a:srgbClr val="FFFFFF"/>
                  </a:solidFill>
                </a:rPr>
                <a:t>보여야</a:t>
              </a:r>
              <a:r>
                <a:rPr sz="1500" b="1" dirty="0">
                  <a:solidFill>
                    <a:srgbClr val="FFFFFF"/>
                  </a:solidFill>
                </a:rPr>
                <a:t> </a:t>
              </a:r>
              <a:r>
                <a:rPr sz="1500" b="1" dirty="0" err="1">
                  <a:solidFill>
                    <a:srgbClr val="FFFFFF"/>
                  </a:solidFill>
                </a:rPr>
                <a:t>호가를</a:t>
              </a:r>
              <a:r>
                <a:rPr sz="1500" b="1" dirty="0">
                  <a:solidFill>
                    <a:srgbClr val="FFFFFF"/>
                  </a:solidFill>
                </a:rPr>
                <a:t> </a:t>
              </a:r>
              <a:r>
                <a:rPr sz="1500" b="1" dirty="0" err="1">
                  <a:solidFill>
                    <a:srgbClr val="FFFFFF"/>
                  </a:solidFill>
                </a:rPr>
                <a:t>더</a:t>
              </a:r>
              <a:r>
                <a:rPr sz="1500" b="1" dirty="0">
                  <a:solidFill>
                    <a:srgbClr val="FFFFFF"/>
                  </a:solidFill>
                </a:rPr>
                <a:t> </a:t>
              </a:r>
              <a:r>
                <a:rPr sz="1500" b="1" dirty="0" err="1">
                  <a:solidFill>
                    <a:srgbClr val="FFFFFF"/>
                  </a:solidFill>
                </a:rPr>
                <a:t>적극적으로</a:t>
              </a:r>
              <a:r>
                <a:rPr sz="1500" b="1" dirty="0">
                  <a:solidFill>
                    <a:srgbClr val="FFFFFF"/>
                  </a:solidFill>
                </a:rPr>
                <a:t> </a:t>
              </a:r>
              <a:r>
                <a:rPr sz="1500" b="1" dirty="0" err="1">
                  <a:solidFill>
                    <a:srgbClr val="FFFFFF"/>
                  </a:solidFill>
                </a:rPr>
                <a:t>낼</a:t>
              </a:r>
              <a:r>
                <a:rPr sz="1500" b="1" dirty="0">
                  <a:solidFill>
                    <a:srgbClr val="FFFFFF"/>
                  </a:solidFill>
                </a:rPr>
                <a:t> </a:t>
              </a:r>
              <a:r>
                <a:rPr sz="1500" b="1" dirty="0" err="1">
                  <a:solidFill>
                    <a:srgbClr val="FFFFFF"/>
                  </a:solidFill>
                </a:rPr>
                <a:t>수</a:t>
              </a:r>
              <a:r>
                <a:rPr sz="1500" b="1" dirty="0">
                  <a:solidFill>
                    <a:srgbClr val="FFFFFF"/>
                  </a:solidFill>
                </a:rPr>
                <a:t> </a:t>
              </a:r>
              <a:r>
                <a:rPr sz="1500" b="1" dirty="0" err="1">
                  <a:solidFill>
                    <a:srgbClr val="FFFFFF"/>
                  </a:solidFill>
                </a:rPr>
                <a:t>있고</a:t>
              </a:r>
              <a:r>
                <a:rPr sz="1500" b="1" dirty="0">
                  <a:solidFill>
                    <a:srgbClr val="FFFFFF"/>
                  </a:solidFill>
                </a:rPr>
                <a:t>, </a:t>
              </a:r>
              <a:r>
                <a:rPr sz="1500" b="1" dirty="0" err="1">
                  <a:solidFill>
                    <a:srgbClr val="FFFFFF"/>
                  </a:solidFill>
                </a:rPr>
                <a:t>포지션을</a:t>
              </a:r>
              <a:r>
                <a:rPr sz="1500" b="1" dirty="0">
                  <a:solidFill>
                    <a:srgbClr val="FFFFFF"/>
                  </a:solidFill>
                </a:rPr>
                <a:t> </a:t>
              </a:r>
              <a:r>
                <a:rPr sz="1500" b="1" dirty="0" err="1">
                  <a:solidFill>
                    <a:srgbClr val="FFFFFF"/>
                  </a:solidFill>
                </a:rPr>
                <a:t>무조건</a:t>
              </a:r>
              <a:r>
                <a:rPr sz="1500" b="1" dirty="0">
                  <a:solidFill>
                    <a:srgbClr val="FFFFFF"/>
                  </a:solidFill>
                </a:rPr>
                <a:t> </a:t>
              </a:r>
              <a:r>
                <a:rPr sz="1500" b="1" dirty="0" err="1">
                  <a:solidFill>
                    <a:srgbClr val="FFFFFF"/>
                  </a:solidFill>
                </a:rPr>
                <a:t>당일에</a:t>
              </a:r>
              <a:r>
                <a:rPr sz="1500" b="1" dirty="0">
                  <a:solidFill>
                    <a:srgbClr val="FFFFFF"/>
                  </a:solidFill>
                </a:rPr>
                <a:t> </a:t>
              </a:r>
              <a:r>
                <a:rPr sz="1500" b="1" dirty="0" err="1">
                  <a:solidFill>
                    <a:srgbClr val="FFFFFF"/>
                  </a:solidFill>
                </a:rPr>
                <a:t>버리지</a:t>
              </a:r>
              <a:r>
                <a:rPr sz="1500" b="1" dirty="0">
                  <a:solidFill>
                    <a:srgbClr val="FFFFFF"/>
                  </a:solidFill>
                </a:rPr>
                <a:t> </a:t>
              </a:r>
              <a:r>
                <a:rPr sz="1500" b="1" dirty="0" err="1">
                  <a:solidFill>
                    <a:srgbClr val="FFFFFF"/>
                  </a:solidFill>
                </a:rPr>
                <a:t>않아도</a:t>
              </a:r>
              <a:r>
                <a:rPr sz="1500" b="1" dirty="0">
                  <a:solidFill>
                    <a:srgbClr val="FFFFFF"/>
                  </a:solidFill>
                </a:rPr>
                <a:t> </a:t>
              </a:r>
              <a:r>
                <a:rPr lang="ko-KR" altLang="en-US" sz="1500" b="1" dirty="0">
                  <a:solidFill>
                    <a:srgbClr val="FFFFFF"/>
                  </a:solidFill>
                </a:rPr>
                <a:t>됨</a:t>
              </a:r>
              <a:r>
                <a:rPr lang="en-US" altLang="ko-KR" sz="1500" b="1" dirty="0">
                  <a:solidFill>
                    <a:srgbClr val="FFFFFF"/>
                  </a:solidFill>
                </a:rPr>
                <a:t/>
              </a:r>
              <a:br>
                <a:rPr lang="en-US" altLang="ko-KR" sz="1500" b="1" dirty="0">
                  <a:solidFill>
                    <a:srgbClr val="FFFFFF"/>
                  </a:solidFill>
                </a:rPr>
              </a:br>
              <a:r>
                <a:rPr lang="en-US" altLang="ko-KR" sz="1100" i="1" dirty="0">
                  <a:solidFill>
                    <a:srgbClr val="FFFFFF"/>
                  </a:solidFill>
                </a:rPr>
                <a:t>(</a:t>
              </a:r>
              <a:r>
                <a:rPr lang="ko-KR" altLang="en-US" sz="1100" i="1" dirty="0">
                  <a:solidFill>
                    <a:srgbClr val="FFFFFF"/>
                  </a:solidFill>
                </a:rPr>
                <a:t>단</a:t>
              </a:r>
              <a:r>
                <a:rPr lang="en-US" altLang="ko-KR" sz="1100" i="1" dirty="0">
                  <a:solidFill>
                    <a:srgbClr val="FFFFFF"/>
                  </a:solidFill>
                </a:rPr>
                <a:t>,</a:t>
              </a:r>
              <a:r>
                <a:rPr lang="ko-KR" altLang="en-US" sz="1100" i="1" dirty="0">
                  <a:solidFill>
                    <a:srgbClr val="FFFFFF"/>
                  </a:solidFill>
                </a:rPr>
                <a:t> 하나의 정답 같은 값은 없음 </a:t>
              </a:r>
              <a:r>
                <a:rPr lang="en-US" altLang="ko-KR" sz="1100" i="1" dirty="0">
                  <a:solidFill>
                    <a:srgbClr val="FFFFFF"/>
                  </a:solidFill>
                </a:rPr>
                <a:t>–</a:t>
              </a:r>
              <a:r>
                <a:rPr lang="ko-KR" altLang="en-US" sz="1100" i="1" dirty="0">
                  <a:solidFill>
                    <a:srgbClr val="FFFFFF"/>
                  </a:solidFill>
                </a:rPr>
                <a:t> 다차원으로 </a:t>
              </a:r>
              <a:r>
                <a:rPr lang="ko-KR" altLang="en-US" sz="1100" i="1" dirty="0" err="1">
                  <a:solidFill>
                    <a:srgbClr val="FFFFFF"/>
                  </a:solidFill>
                </a:rPr>
                <a:t>체크해야함</a:t>
              </a:r>
              <a:r>
                <a:rPr lang="en-US" altLang="ko-KR" sz="1100" i="1" dirty="0">
                  <a:solidFill>
                    <a:srgbClr val="FFFFFF"/>
                  </a:solidFill>
                </a:rPr>
                <a:t>)</a:t>
              </a:r>
              <a:endParaRPr sz="1500" i="1" dirty="0">
                <a:solidFill>
                  <a:srgbClr val="FFFFFF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B860A8A-5E12-7C8A-CE91-F0381A10085C}"/>
              </a:ext>
            </a:extLst>
          </p:cNvPr>
          <p:cNvSpPr txBox="1"/>
          <p:nvPr/>
        </p:nvSpPr>
        <p:spPr>
          <a:xfrm>
            <a:off x="6652260" y="4362148"/>
            <a:ext cx="4572000" cy="107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" altLang="ko-KR" sz="1100" i="1" dirty="0">
                <a:solidFill>
                  <a:srgbClr val="FFFFFF"/>
                </a:solidFill>
              </a:rPr>
              <a:t>A </a:t>
            </a:r>
            <a:r>
              <a:rPr lang="en" altLang="ko-KR" sz="1100" i="1" dirty="0" err="1">
                <a:solidFill>
                  <a:srgbClr val="FFFFFF"/>
                </a:solidFill>
              </a:rPr>
              <a:t>etf</a:t>
            </a:r>
            <a:r>
              <a:rPr lang="ko-KR" altLang="en-US" sz="1100" i="1" dirty="0">
                <a:solidFill>
                  <a:srgbClr val="FFFFFF"/>
                </a:solidFill>
              </a:rPr>
              <a:t>가 있을 때</a:t>
            </a:r>
            <a:r>
              <a:rPr lang="en-US" altLang="ko-KR" sz="1100" i="1" dirty="0">
                <a:solidFill>
                  <a:srgbClr val="FFFFFF"/>
                </a:solidFill>
              </a:rPr>
              <a:t>, </a:t>
            </a:r>
            <a:r>
              <a:rPr lang="ko-KR" altLang="en-US" sz="1100" i="1" dirty="0">
                <a:solidFill>
                  <a:srgbClr val="FFFFFF"/>
                </a:solidFill>
              </a:rPr>
              <a:t>시장에 대한 </a:t>
            </a:r>
            <a:r>
              <a:rPr lang="en" altLang="ko-KR" sz="1100" i="1" dirty="0">
                <a:solidFill>
                  <a:srgbClr val="FFFFFF"/>
                </a:solidFill>
              </a:rPr>
              <a:t>A</a:t>
            </a:r>
            <a:r>
              <a:rPr lang="ko-KR" altLang="en-US" sz="1100" i="1" dirty="0">
                <a:solidFill>
                  <a:srgbClr val="FFFFFF"/>
                </a:solidFill>
              </a:rPr>
              <a:t>의 </a:t>
            </a:r>
            <a:r>
              <a:rPr lang="en" altLang="ko-KR" sz="1100" i="1" dirty="0">
                <a:solidFill>
                  <a:srgbClr val="FFFFFF"/>
                </a:solidFill>
              </a:rPr>
              <a:t>fair value </a:t>
            </a:r>
            <a:r>
              <a:rPr lang="ko-KR" altLang="en-US" sz="1100" i="1" dirty="0">
                <a:solidFill>
                  <a:srgbClr val="FFFFFF"/>
                </a:solidFill>
              </a:rPr>
              <a:t>뿐만 아니라 </a:t>
            </a:r>
            <a:r>
              <a:rPr lang="en-US" altLang="ko-KR" sz="1100" i="1" dirty="0">
                <a:solidFill>
                  <a:srgbClr val="FFFFFF"/>
                </a:solidFill>
              </a:rPr>
              <a:t/>
            </a:r>
            <a:br>
              <a:rPr lang="en-US" altLang="ko-KR" sz="1100" i="1" dirty="0">
                <a:solidFill>
                  <a:srgbClr val="FFFFFF"/>
                </a:solidFill>
              </a:rPr>
            </a:br>
            <a:r>
              <a:rPr lang="en-US" altLang="ko-KR" sz="1100" i="1" dirty="0">
                <a:solidFill>
                  <a:srgbClr val="FFFFFF"/>
                </a:solidFill>
              </a:rPr>
              <a:t>“</a:t>
            </a:r>
            <a:r>
              <a:rPr lang="ko-KR" altLang="en-US" sz="1100" i="1" dirty="0">
                <a:solidFill>
                  <a:srgbClr val="FFFFFF"/>
                </a:solidFill>
              </a:rPr>
              <a:t>북 전체 관점</a:t>
            </a:r>
            <a:r>
              <a:rPr lang="en-US" altLang="ko-KR" sz="1100" i="1" dirty="0">
                <a:solidFill>
                  <a:srgbClr val="FFFFFF"/>
                </a:solidFill>
              </a:rPr>
              <a:t>”</a:t>
            </a:r>
            <a:r>
              <a:rPr lang="ko-KR" altLang="en-US" sz="1100" i="1" dirty="0">
                <a:solidFill>
                  <a:srgbClr val="FFFFFF"/>
                </a:solidFill>
              </a:rPr>
              <a:t>에서의 </a:t>
            </a:r>
            <a:r>
              <a:rPr lang="en" altLang="ko-KR" sz="1100" i="1" dirty="0">
                <a:solidFill>
                  <a:srgbClr val="FFFFFF"/>
                </a:solidFill>
              </a:rPr>
              <a:t>A</a:t>
            </a:r>
            <a:r>
              <a:rPr lang="ko-KR" altLang="en-US" sz="1100" i="1" dirty="0">
                <a:solidFill>
                  <a:srgbClr val="FFFFFF"/>
                </a:solidFill>
              </a:rPr>
              <a:t>의 </a:t>
            </a:r>
            <a:r>
              <a:rPr lang="en" altLang="ko-KR" sz="1100" i="1" dirty="0">
                <a:solidFill>
                  <a:srgbClr val="FFFFFF"/>
                </a:solidFill>
              </a:rPr>
              <a:t>fair value (Ex. </a:t>
            </a:r>
            <a:r>
              <a:rPr lang="ko-KR" altLang="en-US" sz="1100" i="1" dirty="0">
                <a:solidFill>
                  <a:srgbClr val="FFFFFF"/>
                </a:solidFill>
              </a:rPr>
              <a:t>북 전체 </a:t>
            </a:r>
            <a:r>
              <a:rPr lang="ko-KR" altLang="en-US" sz="1100" i="1" dirty="0" err="1">
                <a:solidFill>
                  <a:srgbClr val="FFFFFF"/>
                </a:solidFill>
              </a:rPr>
              <a:t>베이시스</a:t>
            </a:r>
            <a:r>
              <a:rPr lang="en-US" altLang="ko-KR" sz="1100" i="1" dirty="0">
                <a:solidFill>
                  <a:srgbClr val="FFFFFF"/>
                </a:solidFill>
              </a:rPr>
              <a:t>, </a:t>
            </a:r>
            <a:r>
              <a:rPr lang="ko-KR" altLang="en-US" sz="1100" i="1" dirty="0">
                <a:solidFill>
                  <a:srgbClr val="FFFFFF"/>
                </a:solidFill>
              </a:rPr>
              <a:t>상관관계</a:t>
            </a:r>
            <a:r>
              <a:rPr lang="en-US" altLang="ko-KR" sz="1100" i="1" dirty="0">
                <a:solidFill>
                  <a:srgbClr val="FFFFFF"/>
                </a:solidFill>
              </a:rPr>
              <a:t>, </a:t>
            </a:r>
            <a:r>
              <a:rPr lang="ko-KR" altLang="en-US" sz="1100" i="1" dirty="0">
                <a:solidFill>
                  <a:srgbClr val="FFFFFF"/>
                </a:solidFill>
              </a:rPr>
              <a:t>리스크 관리 관점에서 최적화된 </a:t>
            </a:r>
            <a:r>
              <a:rPr lang="en" altLang="ko-KR" sz="1100" i="1" dirty="0">
                <a:solidFill>
                  <a:srgbClr val="FFFFFF"/>
                </a:solidFill>
              </a:rPr>
              <a:t>mid nav)</a:t>
            </a:r>
            <a:r>
              <a:rPr lang="ko-KR" altLang="en-US" sz="1100" i="1" dirty="0" err="1">
                <a:solidFill>
                  <a:srgbClr val="FFFFFF"/>
                </a:solidFill>
              </a:rPr>
              <a:t>를</a:t>
            </a:r>
            <a:r>
              <a:rPr lang="ko-KR" altLang="en-US" sz="1100" i="1" dirty="0">
                <a:solidFill>
                  <a:srgbClr val="FFFFFF"/>
                </a:solidFill>
              </a:rPr>
              <a:t> 구해 어디에 호가를 대면 </a:t>
            </a:r>
            <a:r>
              <a:rPr lang="en" altLang="ko-KR" sz="1100" i="1" dirty="0">
                <a:solidFill>
                  <a:srgbClr val="FFFFFF"/>
                </a:solidFill>
              </a:rPr>
              <a:t>X BP</a:t>
            </a:r>
            <a:r>
              <a:rPr lang="ko-KR" altLang="en-US" sz="1100" i="1" dirty="0">
                <a:solidFill>
                  <a:srgbClr val="FFFFFF"/>
                </a:solidFill>
              </a:rPr>
              <a:t>의 수익이 </a:t>
            </a:r>
            <a:r>
              <a:rPr lang="ko-KR" altLang="en-US" sz="1100" i="1" dirty="0" err="1">
                <a:solidFill>
                  <a:srgbClr val="FFFFFF"/>
                </a:solidFill>
              </a:rPr>
              <a:t>기대되는구나를</a:t>
            </a:r>
            <a:r>
              <a:rPr lang="ko-KR" altLang="en-US" sz="1100" i="1" dirty="0">
                <a:solidFill>
                  <a:srgbClr val="FFFFFF"/>
                </a:solidFill>
              </a:rPr>
              <a:t> 알아야 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59" y="402336"/>
            <a:ext cx="91743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바꿔야 할 단위는 ETF별 포지션이 아니라 북 </a:t>
            </a:r>
            <a:r>
              <a:rPr lang="en-US" sz="24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r>
              <a:rPr lang="en-US" sz="24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4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잔차위험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더 오래 들고 가는 것이 아니라, 가장 비싼 위험만 먼저 </a:t>
            </a:r>
            <a:r>
              <a:rPr lang="en-US" sz="1050" dirty="0" err="1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줄이는</a:t>
            </a:r>
            <a:r>
              <a:rPr lang="en-US" sz="105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</a:t>
            </a:r>
            <a:r>
              <a:rPr lang="en-US" sz="105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9808" y="1572768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0E2A4A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80760" y="1572768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102E50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1828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방식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44805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7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7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ETF별 재고를 각각 0으로 </a:t>
            </a:r>
            <a:r>
              <a:rPr lang="en-US" sz="1700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</a:t>
            </a:r>
            <a:endParaRPr lang="en-US" sz="1700" dirty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r>
              <a:rPr lang="en-US" sz="1700" b="1" dirty="0">
                <a:solidFill>
                  <a:srgbClr val="FF7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7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체결마다 주식 바스켓으로 </a:t>
            </a:r>
            <a:r>
              <a:rPr lang="en-US" sz="1700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</a:t>
            </a:r>
            <a:r>
              <a:rPr lang="en-US" sz="17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00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헤지</a:t>
            </a:r>
            <a:endParaRPr lang="en-US" sz="1700" dirty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r>
              <a:rPr lang="en-US" sz="1700" b="1" dirty="0">
                <a:solidFill>
                  <a:srgbClr val="FF7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7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설정·환매를 사실상 마감 </a:t>
            </a:r>
            <a:r>
              <a:rPr lang="en-US" sz="1700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절차처럼</a:t>
            </a:r>
            <a:r>
              <a:rPr lang="en-US" sz="17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00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</a:t>
            </a:r>
            <a:endParaRPr lang="en-US" sz="1700" dirty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r>
              <a:rPr lang="en-US" sz="1700" b="1" dirty="0">
                <a:solidFill>
                  <a:srgbClr val="FF7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7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또는 베</a:t>
            </a:r>
            <a:r>
              <a:rPr lang="en-US" sz="1700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이시스</a:t>
            </a:r>
            <a:r>
              <a:rPr lang="en-US" sz="17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 회귀를 기다리다 바로 정리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6672" y="437083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1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2000" dirty="0"/>
          </a:p>
          <a:p>
            <a:pPr marL="0" indent="0" algn="ctr">
              <a:buNone/>
            </a:pPr>
            <a:r>
              <a:rPr lang="ko-KR" altLang="en-US" sz="2000" b="1" dirty="0" err="1">
                <a:solidFill>
                  <a:srgbClr val="FFD1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넷팅</a:t>
            </a:r>
            <a:r>
              <a:rPr lang="en-US" sz="2000" b="1" dirty="0">
                <a:solidFill>
                  <a:srgbClr val="FFD1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효과 · 상대가치 · 보유 선택권을 거의 쓰지 못함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27648" y="1828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D1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바꿔야 할 운영 순서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256032" cy="256032"/>
          </a:xfrm>
          <a:prstGeom prst="ellipse">
            <a:avLst/>
          </a:prstGeom>
          <a:solidFill>
            <a:srgbClr val="47D18C"/>
          </a:solidFill>
          <a:ln w="12700">
            <a:solidFill>
              <a:srgbClr val="47D1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0" y="219913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84848" y="21488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기준가 계산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400800" y="2898648"/>
            <a:ext cx="256032" cy="256032"/>
          </a:xfrm>
          <a:prstGeom prst="ellipse">
            <a:avLst/>
          </a:prstGeom>
          <a:solidFill>
            <a:srgbClr val="47D18C"/>
          </a:solidFill>
          <a:ln w="12700">
            <a:solidFill>
              <a:srgbClr val="47D1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0" y="290322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84848" y="285292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팩터별 </a:t>
            </a:r>
            <a:r>
              <a:rPr lang="en-US" sz="19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</a:t>
            </a:r>
            <a:r>
              <a:rPr lang="en-US" sz="19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9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</a:t>
            </a:r>
            <a:r>
              <a:rPr lang="ko-KR" altLang="en-US" sz="19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9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</a:t>
            </a:r>
            <a:r>
              <a:rPr lang="en-US" altLang="ko-KR" sz="9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9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섹터</a:t>
            </a:r>
            <a:r>
              <a:rPr lang="en-US" altLang="ko-KR" sz="9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9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단일종목</a:t>
            </a:r>
            <a:r>
              <a:rPr lang="en-US" altLang="ko-KR" sz="9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9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9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잔차</a:t>
            </a:r>
            <a:r>
              <a:rPr lang="ko-KR" altLang="en-US" sz="9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</a:t>
            </a:r>
            <a:r>
              <a:rPr lang="en-US" altLang="ko-KR" sz="9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400800" y="3602736"/>
            <a:ext cx="256032" cy="256032"/>
          </a:xfrm>
          <a:prstGeom prst="ellipse">
            <a:avLst/>
          </a:prstGeom>
          <a:solidFill>
            <a:srgbClr val="47D18C"/>
          </a:solidFill>
          <a:ln w="12700">
            <a:solidFill>
              <a:srgbClr val="47D1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0" y="360730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84848" y="355701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시장베타와</a:t>
            </a:r>
            <a:r>
              <a:rPr lang="en-US" sz="19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9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</a:t>
            </a:r>
            <a:r>
              <a:rPr lang="ko-KR" altLang="en-US" sz="19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리스크만</a:t>
            </a:r>
            <a:r>
              <a:rPr lang="en-US" sz="19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우선 헤지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400800" y="4306824"/>
            <a:ext cx="256032" cy="256032"/>
          </a:xfrm>
          <a:prstGeom prst="ellipse">
            <a:avLst/>
          </a:prstGeom>
          <a:solidFill>
            <a:srgbClr val="47D18C"/>
          </a:solidFill>
          <a:ln w="12700">
            <a:solidFill>
              <a:srgbClr val="47D1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00800" y="431139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84848" y="4261104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000" b="1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나머지는</a:t>
            </a:r>
            <a:r>
              <a:rPr lang="en-US" altLang="ko-KR" sz="2000" b="1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b="1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</a:t>
            </a:r>
            <a:r>
              <a:rPr lang="en-US" altLang="ko-KR" sz="2000" b="1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b="1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ETF·선물·설정환매와</a:t>
            </a:r>
            <a:r>
              <a:rPr lang="en-US" altLang="ko-KR" sz="2000" b="1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b="1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</a:t>
            </a:r>
            <a:r>
              <a:rPr lang="en-US" altLang="ko-KR" sz="2000" b="1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b="1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싼</a:t>
            </a:r>
            <a:r>
              <a:rPr lang="en-US" altLang="ko-KR" sz="2000" b="1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b="1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수단으로</a:t>
            </a:r>
            <a:r>
              <a:rPr lang="en-US" altLang="ko-KR" sz="2000" b="1" dirty="0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2000" b="1" dirty="0" err="1">
                <a:solidFill>
                  <a:srgbClr val="F4F7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464808" y="494233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원칙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ETF</a:t>
            </a:r>
            <a:r>
              <a:rPr lang="ko-KR" altLang="en-US" sz="1100" b="1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 </a:t>
            </a:r>
            <a:r>
              <a:rPr lang="en-US" sz="1100" b="1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flat</a:t>
            </a:r>
            <a:r>
              <a:rPr lang="ko-KR" altLang="en-US" sz="1100" b="1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대신 </a:t>
            </a:r>
            <a:endParaRPr lang="en-US" altLang="ko-KR" sz="1100" b="1" dirty="0">
              <a:solidFill>
                <a:srgbClr val="A7F3D0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desk </a:t>
            </a:r>
            <a:r>
              <a:rPr lang="ko-KR" altLang="en-US" sz="1100" b="1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</a:t>
            </a:r>
            <a:r>
              <a:rPr lang="en-US" sz="1100" b="1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residual risk</a:t>
            </a:r>
            <a:r>
              <a:rPr lang="ko-KR" altLang="en-US" sz="1100" b="1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</a:t>
            </a:r>
            <a:r>
              <a:rPr lang="en-US" sz="1100" b="1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 </a:t>
            </a:r>
            <a:r>
              <a:rPr lang="ko-KR" altLang="en-US" sz="1100" b="1" dirty="0">
                <a:solidFill>
                  <a:srgbClr val="A7F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안에 유지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실행할 운영 틀: 4개 숫자부터 </a:t>
            </a:r>
            <a:r>
              <a:rPr lang="en-US" sz="24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보이게</a:t>
            </a:r>
            <a:r>
              <a:rPr lang="en-US" sz="24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4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</a:t>
            </a:r>
            <a:r>
              <a:rPr lang="ko-KR" altLang="en-US" sz="24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완성형 시스템을 만들자는 것이 아니라, 호가·헤지·보유 결정을 같은 좌표로 </a:t>
            </a:r>
            <a:r>
              <a:rPr lang="en-US" sz="1050" dirty="0" err="1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맞추자는</a:t>
            </a:r>
            <a:r>
              <a:rPr lang="en-US" sz="105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04672" y="1572768"/>
            <a:ext cx="7635240" cy="804672"/>
          </a:xfrm>
          <a:prstGeom prst="roundRect">
            <a:avLst>
              <a:gd name="adj" fmla="val 13636"/>
            </a:avLst>
          </a:prstGeom>
          <a:solidFill>
            <a:srgbClr val="0E2A4A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24128" y="1746504"/>
            <a:ext cx="256032" cy="256032"/>
          </a:xfrm>
          <a:prstGeom prst="ellipse">
            <a:avLst/>
          </a:prstGeom>
          <a:solidFill>
            <a:srgbClr val="2FD3C7"/>
          </a:solidFill>
          <a:ln w="12700">
            <a:solidFill>
              <a:srgbClr val="2FD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4128" y="175107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81328" y="17190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기준가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17520" y="171907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ETF 현재가와 자체 기준가의 차이를 실시간으로 추적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" y="2596896"/>
            <a:ext cx="7635240" cy="804672"/>
          </a:xfrm>
          <a:prstGeom prst="roundRect">
            <a:avLst>
              <a:gd name="adj" fmla="val 13636"/>
            </a:avLst>
          </a:prstGeom>
          <a:solidFill>
            <a:srgbClr val="102E50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24128" y="2770632"/>
            <a:ext cx="256032" cy="256032"/>
          </a:xfrm>
          <a:prstGeom prst="ellipse">
            <a:avLst/>
          </a:prstGeom>
          <a:solidFill>
            <a:srgbClr val="2FD3C7"/>
          </a:solidFill>
          <a:ln w="12700">
            <a:solidFill>
              <a:srgbClr val="2FD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24128" y="277520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81328" y="2743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베타조정 델타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17520" y="27432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ETF별 잔량을 시장 노출도로 바꿔 지금 얼마나 열려 있는지 확인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" y="3621024"/>
            <a:ext cx="7635240" cy="804672"/>
          </a:xfrm>
          <a:prstGeom prst="roundRect">
            <a:avLst>
              <a:gd name="adj" fmla="val 13636"/>
            </a:avLst>
          </a:prstGeom>
          <a:solidFill>
            <a:srgbClr val="0E2A4A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24128" y="3794760"/>
            <a:ext cx="256032" cy="256032"/>
          </a:xfrm>
          <a:prstGeom prst="ellipse">
            <a:avLst/>
          </a:prstGeom>
          <a:solidFill>
            <a:srgbClr val="2FD3C7"/>
          </a:solidFill>
          <a:ln w="12700">
            <a:solidFill>
              <a:srgbClr val="2FD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24128" y="379933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81328" y="37673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잔차위험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017520" y="37673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팩터 헤지 후 남는 종목 고유 위험을 따로 관리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" y="4645152"/>
            <a:ext cx="7635240" cy="804672"/>
          </a:xfrm>
          <a:prstGeom prst="roundRect">
            <a:avLst>
              <a:gd name="adj" fmla="val 13636"/>
            </a:avLst>
          </a:prstGeom>
          <a:solidFill>
            <a:srgbClr val="102E50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024128" y="4818888"/>
            <a:ext cx="256032" cy="256032"/>
          </a:xfrm>
          <a:prstGeom prst="ellipse">
            <a:avLst/>
          </a:prstGeom>
          <a:solidFill>
            <a:srgbClr val="2FD3C7"/>
          </a:solidFill>
          <a:ln w="12700">
            <a:solidFill>
              <a:srgbClr val="2FD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024128" y="48234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81328" y="47914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 분해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017520" y="47914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스프레드·재고·헤지비용·베이시스를 나눠서 손익 확인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732520" y="1572768"/>
            <a:ext cx="2560320" cy="4069080"/>
          </a:xfrm>
          <a:prstGeom prst="roundRect">
            <a:avLst>
              <a:gd name="adj" fmla="val 4286"/>
            </a:avLst>
          </a:prstGeom>
          <a:solidFill>
            <a:srgbClr val="123558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006840" y="1828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C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4개가 먼저인가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52243" y="2510028"/>
            <a:ext cx="235909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네 </a:t>
            </a:r>
            <a:r>
              <a:rPr lang="en-US" sz="16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가지가</a:t>
            </a:r>
            <a:r>
              <a:rPr 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있어야</a:t>
            </a:r>
            <a:endParaRPr lang="en-US" sz="1600" b="1" dirty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체결이</a:t>
            </a:r>
            <a:r>
              <a:rPr 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유리한지</a:t>
            </a:r>
            <a:endParaRPr lang="en-US" sz="1600" b="1" dirty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위험이 </a:t>
            </a:r>
            <a:r>
              <a:rPr lang="en-US" sz="16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</a:t>
            </a:r>
            <a:r>
              <a:rPr 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남는지</a:t>
            </a:r>
            <a:endParaRPr lang="en-US" sz="1600" b="1" dirty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</a:t>
            </a:r>
            <a:r>
              <a:rPr lang="en-US" sz="16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비용이</a:t>
            </a:r>
            <a:r>
              <a:rPr 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얼마인지</a:t>
            </a:r>
            <a:endParaRPr lang="en-US" sz="1600" b="1" dirty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언어로 말할 </a:t>
            </a:r>
            <a:r>
              <a:rPr lang="en-US" sz="16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</a:t>
            </a:r>
            <a:r>
              <a:rPr 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</a:t>
            </a:r>
            <a:r>
              <a:rPr lang="ko-KR" alt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06840" y="4881249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영어보다 먼저,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</a:t>
            </a:r>
            <a:r>
              <a:rPr lang="en-US" sz="1200" dirty="0" err="1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숫자가</a:t>
            </a:r>
            <a:r>
              <a:rPr lang="en-US" sz="120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보여야</a:t>
            </a:r>
            <a:r>
              <a:rPr lang="ko-KR" altLang="en-US" sz="120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2270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</a:t>
            </a:r>
            <a:r>
              <a:rPr lang="en-US" sz="24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크게</a:t>
            </a:r>
            <a:r>
              <a:rPr lang="en-US" sz="24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4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</a:t>
            </a:r>
            <a:r>
              <a:rPr lang="ko-KR" altLang="en-US" sz="24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꿀게</a:t>
            </a:r>
            <a:r>
              <a:rPr lang="ko-KR" altLang="en-US" sz="24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4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아니라</a:t>
            </a:r>
            <a:r>
              <a:rPr lang="en-US" sz="24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작게 </a:t>
            </a:r>
            <a:r>
              <a:rPr lang="en-US" sz="24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측정부터</a:t>
            </a:r>
            <a:r>
              <a:rPr lang="en-US" sz="24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4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" y="1783080"/>
            <a:ext cx="2487168" cy="2926080"/>
          </a:xfrm>
          <a:prstGeom prst="roundRect">
            <a:avLst>
              <a:gd name="adj" fmla="val 4412"/>
            </a:avLst>
          </a:prstGeom>
          <a:solidFill>
            <a:srgbClr val="0E2A4A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50976" y="19933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50976" y="22677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</a:t>
            </a:r>
            <a:r>
              <a:rPr lang="en-US" sz="20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0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ETF별 재고, 선물·주식 헤지, 설정·환매 이력, 시간대별 체결 자료 정리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1783080"/>
            <a:ext cx="2487168" cy="2926080"/>
          </a:xfrm>
          <a:prstGeom prst="roundRect">
            <a:avLst>
              <a:gd name="adj" fmla="val 4412"/>
            </a:avLst>
          </a:prstGeom>
          <a:solidFill>
            <a:srgbClr val="102E50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767328" y="19933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67328" y="22677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지표 구축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76471" y="2834640"/>
            <a:ext cx="20904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기준가, 베타조정 델타, 잔차위험, 손익 분해 산출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82512" y="1783080"/>
            <a:ext cx="2487168" cy="2926080"/>
          </a:xfrm>
          <a:prstGeom prst="roundRect">
            <a:avLst>
              <a:gd name="adj" fmla="val 4412"/>
            </a:avLst>
          </a:prstGeom>
          <a:solidFill>
            <a:srgbClr val="0E2A4A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583680" y="19933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2677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규칙 전환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83680" y="2834640"/>
            <a:ext cx="22331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ETF별 즉시 0정리 </a:t>
            </a:r>
            <a:r>
              <a:rPr lang="ko-KR" altLang="en-US" sz="130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지양</a:t>
            </a:r>
            <a:r>
              <a:rPr lang="en-US" sz="130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시장베타</a:t>
            </a:r>
            <a:r>
              <a:rPr lang="en-US" sz="130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우선 헤지 규칙 시험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98864" y="1783080"/>
            <a:ext cx="2487168" cy="2926080"/>
          </a:xfrm>
          <a:prstGeom prst="roundRect">
            <a:avLst>
              <a:gd name="adj" fmla="val 4412"/>
            </a:avLst>
          </a:prstGeom>
          <a:solidFill>
            <a:srgbClr val="102E50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400032" y="19933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400032" y="22677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실전 적용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409176" y="283464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5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ETF 2~3개만 먼저 적용하고 거래량·스프레드·헤지비용 비교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9808" y="4983480"/>
            <a:ext cx="10698480" cy="749808"/>
          </a:xfrm>
          <a:prstGeom prst="roundRect">
            <a:avLst>
              <a:gd name="adj" fmla="val 14634"/>
            </a:avLst>
          </a:prstGeom>
          <a:solidFill>
            <a:srgbClr val="13375A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60120" y="5184648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</a:t>
            </a:r>
            <a:r>
              <a:rPr lang="en-US" sz="17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한도는 유지한 채,  측정 → 비교 → 부분 적용  </a:t>
            </a:r>
            <a:r>
              <a:rPr lang="en-US" sz="17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순서로</a:t>
            </a:r>
            <a:r>
              <a:rPr lang="en-US" sz="17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7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</a:t>
            </a:r>
            <a:r>
              <a:rPr lang="en-US" sz="17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공격적으로 하자는 것이 아니라 더 정교하게 </a:t>
            </a:r>
            <a:r>
              <a:rPr lang="en-US" sz="17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바꾸자는</a:t>
            </a:r>
            <a:r>
              <a:rPr lang="en-US" sz="17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640080"/>
            <a:ext cx="91743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 smtClean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9808" y="1572768"/>
            <a:ext cx="9473184" cy="4480560"/>
          </a:xfrm>
          <a:prstGeom prst="roundRect">
            <a:avLst>
              <a:gd name="adj" fmla="val 2449"/>
            </a:avLst>
          </a:prstGeom>
          <a:solidFill>
            <a:srgbClr val="0E2A4A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19" y="1828800"/>
            <a:ext cx="20520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smtClean="0">
                <a:solidFill>
                  <a:srgbClr val="FF7B7B"/>
                </a:solidFill>
                <a:latin typeface="Malgun Gothic" pitchFamily="34" charset="0"/>
                <a:ea typeface="Malgun Gothic" pitchFamily="34" charset="-122"/>
              </a:rPr>
              <a:t>필요한 구조</a:t>
            </a:r>
            <a:r>
              <a:rPr lang="en-US" altLang="ko-KR" sz="1200" b="1" dirty="0" smtClean="0">
                <a:solidFill>
                  <a:srgbClr val="FF7B7B"/>
                </a:solidFill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sz="1200" b="1" dirty="0" smtClean="0">
                <a:solidFill>
                  <a:srgbClr val="FF7B7B"/>
                </a:solidFill>
                <a:latin typeface="Malgun Gothic" pitchFamily="34" charset="0"/>
                <a:ea typeface="Malgun Gothic" pitchFamily="34" charset="-122"/>
              </a:rPr>
              <a:t>시스템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148839"/>
            <a:ext cx="7638314" cy="350661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r>
              <a:rPr lang="en-US" altLang="ko-KR" dirty="0">
                <a:solidFill>
                  <a:srgbClr val="FFFFFF"/>
                </a:solidFill>
              </a:rPr>
              <a:t>• </a:t>
            </a:r>
            <a:r>
              <a:rPr lang="ko-KR" altLang="en-US" sz="1700" dirty="0" smtClean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매우 </a:t>
            </a:r>
            <a:r>
              <a:rPr lang="ko-KR" altLang="en-US" sz="17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정교한 실시간 리스크 </a:t>
            </a:r>
            <a:r>
              <a:rPr lang="ko-KR" altLang="en-US" sz="1700" dirty="0" smtClean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</a:t>
            </a:r>
            <a:endParaRPr lang="en-US" altLang="ko-KR" sz="1700" dirty="0" smtClean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endParaRPr lang="ko-KR" altLang="en-US" sz="1700" dirty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dirty="0">
                <a:solidFill>
                  <a:srgbClr val="FFFFFF"/>
                </a:solidFill>
              </a:rPr>
              <a:t>• </a:t>
            </a:r>
            <a:r>
              <a:rPr lang="ko-KR" altLang="en-US" sz="1700" dirty="0" smtClean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</a:t>
            </a:r>
            <a:r>
              <a:rPr lang="ko-KR" altLang="en-US" sz="1700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자산군</a:t>
            </a:r>
            <a:r>
              <a:rPr lang="ko-KR" altLang="en-US" sz="17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동시 </a:t>
            </a:r>
            <a:r>
              <a:rPr lang="ko-KR" altLang="en-US" sz="1700" dirty="0" smtClean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헤지</a:t>
            </a:r>
            <a:endParaRPr lang="en-US" altLang="ko-KR" sz="1700" dirty="0" smtClean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endParaRPr lang="ko-KR" altLang="en-US" sz="1700" dirty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dirty="0">
                <a:solidFill>
                  <a:srgbClr val="FFFFFF"/>
                </a:solidFill>
              </a:rPr>
              <a:t>• </a:t>
            </a:r>
            <a:r>
              <a:rPr lang="ko-KR" altLang="en-US" sz="1700" dirty="0" smtClean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</a:t>
            </a:r>
            <a:r>
              <a:rPr lang="ko-KR" altLang="en-US" sz="1700" dirty="0" err="1" smtClean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체결비용</a:t>
            </a:r>
            <a:endParaRPr lang="en-US" altLang="ko-KR" sz="1700" dirty="0" smtClean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endParaRPr lang="ko-KR" altLang="en-US" sz="1700" dirty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dirty="0">
                <a:solidFill>
                  <a:srgbClr val="FFFFFF"/>
                </a:solidFill>
              </a:rPr>
              <a:t>• </a:t>
            </a:r>
            <a:r>
              <a:rPr lang="ko-KR" altLang="en-US" sz="1700" dirty="0" smtClean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내부화되거나 </a:t>
            </a:r>
            <a:r>
              <a:rPr lang="ko-KR" altLang="en-US" sz="17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흐름을 처리할 수 있는 </a:t>
            </a:r>
            <a:r>
              <a:rPr lang="ko-KR" altLang="en-US" sz="1700" dirty="0" smtClean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</a:t>
            </a:r>
            <a:endParaRPr lang="en-US" altLang="ko-KR" sz="1700" dirty="0" smtClean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endParaRPr lang="ko-KR" altLang="en-US" sz="1700" dirty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dirty="0">
                <a:solidFill>
                  <a:srgbClr val="FFFFFF"/>
                </a:solidFill>
              </a:rPr>
              <a:t>• </a:t>
            </a:r>
            <a:r>
              <a:rPr lang="ko-KR" altLang="en-US" sz="1700" dirty="0" smtClean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강한 </a:t>
            </a:r>
            <a:r>
              <a:rPr lang="ko-KR" altLang="en-US" sz="17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자본력과 </a:t>
            </a:r>
            <a:r>
              <a:rPr lang="en-US" altLang="ko-KR" sz="17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overnight </a:t>
            </a:r>
            <a:r>
              <a:rPr lang="ko-KR" altLang="en-US" sz="1700" dirty="0" smtClean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</a:t>
            </a:r>
            <a:endParaRPr lang="en-US" altLang="ko-KR" sz="1700" dirty="0" smtClean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endParaRPr lang="ko-KR" altLang="en-US" sz="1700" dirty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dirty="0">
                <a:solidFill>
                  <a:srgbClr val="FFFFFF"/>
                </a:solidFill>
              </a:rPr>
              <a:t>• </a:t>
            </a:r>
            <a:r>
              <a:rPr lang="ko-KR" altLang="en-US" sz="1700" dirty="0" smtClean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재고를 </a:t>
            </a:r>
            <a:r>
              <a:rPr lang="ko-KR" altLang="en-US" sz="17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들고 갈 때의 </a:t>
            </a:r>
            <a:r>
              <a:rPr lang="en-US" altLang="ko-KR" sz="17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alpha/edge </a:t>
            </a:r>
            <a:r>
              <a:rPr lang="ko-KR" altLang="en-US" sz="17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 </a:t>
            </a:r>
            <a:r>
              <a:rPr lang="ko-KR" altLang="en-US" sz="1700" dirty="0" smtClean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566372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053548"/>
            <a:ext cx="10861198" cy="5636907"/>
          </a:xfrm>
          <a:prstGeom prst="roundRect">
            <a:avLst>
              <a:gd name="adj" fmla="val 4706"/>
            </a:avLst>
          </a:prstGeom>
          <a:solidFill>
            <a:srgbClr val="0E2A4A"/>
          </a:solidFill>
          <a:ln w="12700">
            <a:solidFill>
              <a:srgbClr val="284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64833" y="1313555"/>
            <a:ext cx="39479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47D18C"/>
                </a:solidFill>
                <a:latin typeface="Malgun Gothic" pitchFamily="34" charset="0"/>
                <a:ea typeface="Malgun Gothic" pitchFamily="34" charset="-122"/>
              </a:rPr>
              <a:t>우리도 외국의 </a:t>
            </a:r>
            <a:r>
              <a:rPr lang="ko-KR" altLang="en-US" sz="1400" b="1" dirty="0" err="1">
                <a:solidFill>
                  <a:srgbClr val="47D18C"/>
                </a:solidFill>
                <a:latin typeface="Malgun Gothic" pitchFamily="34" charset="0"/>
                <a:ea typeface="Malgun Gothic" pitchFamily="34" charset="-122"/>
              </a:rPr>
              <a:t>찐들처럼</a:t>
            </a:r>
            <a:r>
              <a:rPr lang="ko-KR" altLang="en-US" sz="1400" b="1" dirty="0">
                <a:solidFill>
                  <a:srgbClr val="47D18C"/>
                </a:solidFill>
                <a:latin typeface="Malgun Gothic" pitchFamily="34" charset="0"/>
                <a:ea typeface="Malgun Gothic" pitchFamily="34" charset="-122"/>
              </a:rPr>
              <a:t> 마켓을 메이킹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1651" y="1862706"/>
            <a:ext cx="10059081" cy="447976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7D1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</a:t>
            </a:r>
            <a:r>
              <a:rPr lang="en-US" altLang="ko-KR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포지션 관리 능력 향상</a:t>
            </a:r>
            <a:r>
              <a:rPr lang="en-US" altLang="ko-KR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br>
              <a:rPr lang="en-US" altLang="ko-KR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ko-KR" altLang="en-US" sz="16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altLang="ko-KR" sz="16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ko-KR" altLang="en-US" sz="16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단순히 종목 몇개 호가 내고 끝이 아니라 진짜 </a:t>
            </a:r>
            <a:r>
              <a:rPr lang="en-US" altLang="ko-KR" sz="12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LP</a:t>
            </a:r>
            <a:r>
              <a:rPr lang="ko-KR" altLang="en-US" sz="12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로서 시장에 참여</a:t>
            </a:r>
            <a:endParaRPr lang="en-US" altLang="ko-KR" sz="1200" dirty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600" b="1" dirty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b="1" dirty="0">
                <a:solidFill>
                  <a:srgbClr val="47D1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남들이 </a:t>
            </a:r>
            <a:r>
              <a:rPr lang="ko-KR" altLang="en-US" sz="16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못보는</a:t>
            </a:r>
            <a:r>
              <a:rPr lang="ko-KR" alt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기회를 직접 찾아 수익 향상</a:t>
            </a:r>
            <a:endParaRPr lang="en-US" altLang="ko-KR" sz="1600" b="1" dirty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600" b="1" dirty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b="1" dirty="0">
                <a:solidFill>
                  <a:srgbClr val="47D1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호가 자체 전략이 개발되면 시너지 효과 </a:t>
            </a:r>
            <a:r>
              <a:rPr lang="en-US" altLang="ko-KR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</a:t>
            </a:r>
            <a:r>
              <a:rPr lang="ko-KR" alt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역선택 </a:t>
            </a:r>
            <a:r>
              <a:rPr lang="en-US" altLang="ko-KR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Down)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altLang="ko-KR" sz="12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Order Book Imbalance, Inventory-Skewing, </a:t>
            </a:r>
            <a:r>
              <a:rPr lang="ko-KR" altLang="en-US" sz="12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예측모델 등 기반 호가 제출</a:t>
            </a:r>
            <a:endParaRPr lang="en-US" altLang="ko-KR" sz="1200" dirty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altLang="ko-KR" sz="1600" b="1" dirty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b="1" dirty="0">
                <a:solidFill>
                  <a:srgbClr val="47D1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거래량 증가와 가용 주식이 증가함에 따라 매니저</a:t>
            </a:r>
            <a:r>
              <a:rPr lang="en-US" altLang="ko-KR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/LP/PBS</a:t>
            </a:r>
            <a:r>
              <a:rPr lang="ko-KR" alt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먼저 만나고 싶어함</a:t>
            </a:r>
            <a:endParaRPr lang="en-US" altLang="ko-KR" sz="1600" b="1" dirty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lang="en-US" altLang="ko-KR" sz="12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ko-KR" altLang="en-US" sz="12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영업 환경 개선 </a:t>
            </a:r>
            <a:r>
              <a:rPr lang="en-US" altLang="ko-KR" sz="12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&amp;</a:t>
            </a:r>
            <a:r>
              <a:rPr lang="ko-KR" altLang="en-US" sz="1200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대차 협상력 개선</a:t>
            </a:r>
            <a:endParaRPr lang="en-US" altLang="ko-KR" sz="1200" dirty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600" b="1" dirty="0">
              <a:solidFill>
                <a:srgbClr val="F2F6F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b="1" dirty="0">
                <a:solidFill>
                  <a:srgbClr val="47D1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altLang="ko-KR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KB</a:t>
            </a:r>
            <a:r>
              <a:rPr lang="ko-KR" alt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증권만의 노하우 축적 </a:t>
            </a:r>
            <a:r>
              <a:rPr lang="en-US" altLang="ko-KR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</a:t>
            </a:r>
            <a:r>
              <a:rPr lang="ko-KR" alt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b="1" dirty="0" err="1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패시브영업</a:t>
            </a:r>
            <a:r>
              <a:rPr lang="en-US" altLang="ko-KR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600" b="1" dirty="0">
                <a:solidFill>
                  <a:srgbClr val="F2F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 기반 다지기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1243</Words>
  <Application>Microsoft Office PowerPoint</Application>
  <PresentationFormat>와이드스크린</PresentationFormat>
  <Paragraphs>192</Paragraphs>
  <Slides>10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ETF LP 운영방식 전환 제안</dc:title>
  <dc:subject>ETF LP 운영방식 전환 제안</dc:subject>
  <dc:creator>OpenAI</dc:creator>
  <cp:lastModifiedBy>infomax</cp:lastModifiedBy>
  <cp:revision>15</cp:revision>
  <dcterms:created xsi:type="dcterms:W3CDTF">2026-03-29T12:58:18Z</dcterms:created>
  <dcterms:modified xsi:type="dcterms:W3CDTF">2026-03-31T02:38:27Z</dcterms:modified>
</cp:coreProperties>
</file>